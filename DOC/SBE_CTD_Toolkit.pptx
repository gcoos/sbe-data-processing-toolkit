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99BD5FDB-ACBF-9775-8A75-E3F040C25613}">
          <p14:sldIdLst>
            <p14:sldId id="256"/>
          </p14:sldIdLst>
        </p14:section>
        <p14:section name="Toolkit" id="{D96EAE8E-F9AD-8F85-6C30-DBAAFC711E94}">
          <p14:sldIdLst>
            <p14:sldId id="257"/>
            <p14:sldId id="258"/>
            <p14:sldId id="259"/>
            <p14:sldId id="260"/>
          </p14:sldIdLst>
        </p14:section>
        <p14:section name="Conductivity alignment" id="{CDDBB791-C6F2-D269-20DD-6EC82F673178}">
          <p14:sldIdLst>
            <p14:sldId id="261"/>
            <p14:sldId id="262"/>
            <p14:sldId id="263"/>
          </p14:sldIdLst>
        </p14:section>
        <p14:section name="Oxygen alignment" id="{DD6F5CA8-6649-DDBC-27C6-49E09C1AF6B1}">
          <p14:sldIdLst>
            <p14:sldId id="264"/>
            <p14:sldId id="265"/>
            <p14:sldId id="266"/>
          </p14:sldIdLst>
        </p14:section>
        <p14:section name="Review and tools" id="{410D0F7B-37E3-F22B-CED4-29129E03BAED}">
          <p14:sldIdLst>
            <p14:sldId id="267"/>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200" d="100"/>
          <a:sy n="200" d="100"/>
        </p:scale>
        <p:origin x="660" y="4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221665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GCOOS toolkit of folder templates, scripts, and Plotly Dash apps for post-processing Sea-Bird CTD casts with SBE Data Processing.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Requirements from the README. A web browser is also needed for the interactive apps.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 2 follows the README's Option 2 steps 1 to 6. The experiments and plotting steps are shown on the alignment slides.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SBE Data Processing training PDF, page 335 (Module 9). Blue is temperature, green conductivity, red salinity. The spike direction reverses if T and C decrease with depth. In the training example, 0.084 db equals 2 scans at the 9plus data rate and a 1 m/s lowering rate.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training PDF page 341. One scan (0.042 s) greatly improved the spiking; two scans began producing spikes in the other direction; three scans reversed and lengthened them. Non-integer scan shifts are allowed.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training PDF page 342 (extra-credit SBE 19plus data set). The optimal value there lies between 0.25 and 0.5 s. Results are compared with plot_alignment.py.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training PDF pages 343 and 344.</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training PDF pages 344 and 345. Viewing hysteresis in DO-T space helps separate it from hydrographic features.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training PDF page 347. The training activity advances oxygen voltage 2, 4, and 6 seconds and plots T vs oxygen.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DOC/SBE_parameters.xlsx in the toolkit repo (Align block). Values are advances in seconds relative to pressure. Instruments with no value listed in the file show a dash. Only the SBE 25/25plus conductivity and oxygen values are highlighted in the file as checked against the Seasoft Data Processing manual; the file also carries a note 'My guess for Hogarth (SBE 25plus)' on a filter cell, so confirm other values against the manual for your own instrument. The file also lists filter time constants and cell thermal mass (alpha, beta) per instrument, and an 'align' row showing conductivity 0.0. The original text for the SBE 9plus oxygen entry reads '3 bis 5 (3.5)', meaning 3 to 5 s with 3.5 s as the typical value. Repository: https://github.com/GCOOS/SBE-Data-Processing-Toolkit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280160"/>
            <a:ext cx="5303520" cy="1554480"/>
          </a:xfrm>
          <a:prstGeom prst="rect">
            <a:avLst/>
          </a:prstGeom>
          <a:noFill/>
          <a:ln/>
        </p:spPr>
        <p:txBody>
          <a:bodyPr wrap="square" rtlCol="0"/>
          <a:lstStyle>
            <a:lvl1pPr marL="0" indent="0" algn="l">
              <a:buNone/>
              <a:defRPr lang="en-US" sz="3800" b="1" dirty="0">
                <a:solidFill>
                  <a:schemeClr val="bg1"/>
                </a:solidFill>
              </a:defRPr>
            </a:lvl1pPr>
          </a:lstStyle>
          <a:p>
            <a:pPr marL="0" indent="0" algn="l">
              <a:buNone/>
            </a:pPr>
            <a:endParaRPr lang="en-US" sz="3800" dirty="0"/>
          </a:p>
        </p:txBody>
      </p:sp>
      <p:sp>
        <p:nvSpPr>
          <p:cNvPr id="3" name="Text 0"/>
          <p:cNvSpPr>
            <a:spLocks noGrp="1"/>
          </p:cNvSpPr>
          <p:nvPr>
            <p:ph type="body" idx="101" hasCustomPrompt="1"/>
          </p:nvPr>
        </p:nvSpPr>
        <p:spPr>
          <a:xfrm>
            <a:off x="548640" y="3017520"/>
            <a:ext cx="5120640" cy="914400"/>
          </a:xfrm>
          <a:prstGeom prst="rect">
            <a:avLst/>
          </a:prstGeom>
          <a:noFill/>
          <a:ln/>
        </p:spPr>
        <p:txBody>
          <a:bodyPr wrap="square" rtlCol="0"/>
          <a:lstStyle>
            <a:lvl1pPr marL="0" indent="0" algn="l">
              <a:buNone/>
              <a:defRPr lang="en-US" sz="1800" dirty="0">
                <a:solidFill>
                  <a:schemeClr val="bg2"/>
                </a:solidFill>
              </a:defRPr>
            </a:lvl1pPr>
          </a:lstStyle>
          <a:p>
            <a:pPr marL="0" indent="0" algn="l">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594360"/>
          </a:xfrm>
          <a:prstGeom prst="rect">
            <a:avLst/>
          </a:prstGeom>
          <a:noFill/>
          <a:ln/>
        </p:spPr>
        <p:txBody>
          <a:bodyPr wrap="square" rtlCol="0"/>
          <a:lstStyle>
            <a:lvl1pPr marL="0" indent="0" algn="l">
              <a:buNone/>
              <a:defRPr lang="en-US" sz="3200" b="1" dirty="0">
                <a:solidFill>
                  <a:schemeClr val="tx1"/>
                </a:solidFill>
              </a:defRPr>
            </a:lvl1pPr>
          </a:lstStyle>
          <a:p>
            <a:pPr marL="0" indent="0" algn="l">
              <a:buNone/>
            </a:pPr>
            <a:endParaRPr lang="en-US" sz="3200" dirty="0"/>
          </a:p>
        </p:txBody>
      </p:sp>
      <p:sp>
        <p:nvSpPr>
          <p:cNvPr id="3" name="Text 0"/>
          <p:cNvSpPr/>
          <p:nvPr/>
        </p:nvSpPr>
        <p:spPr>
          <a:xfrm>
            <a:off x="457200" y="4754880"/>
            <a:ext cx="2926080" cy="274320"/>
          </a:xfrm>
          <a:prstGeom prst="rect">
            <a:avLst/>
          </a:prstGeom>
          <a:noFill/>
          <a:ln/>
        </p:spPr>
        <p:txBody>
          <a:bodyPr wrap="square" lIns="0" tIns="0" rIns="0" bIns="0" rtlCol="0" anchor="ctr"/>
          <a:lstStyle/>
          <a:p>
            <a:pPr marL="0" indent="0">
              <a:buNone/>
            </a:pPr>
            <a:r>
              <a:rPr lang="en-US" sz="1000" dirty="0">
                <a:solidFill>
                  <a:schemeClr val="accent6"/>
                </a:solidFill>
              </a:rPr>
              <a:t>SBE CTD Data Processing Toolkit</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github.com/GCOOS/SBE-Data-Processing-Toolkit"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3.xml"/><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3.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280160"/>
            <a:ext cx="5303520" cy="1554480"/>
          </a:xfrm>
          <a:prstGeom prst="rect">
            <a:avLst/>
          </a:prstGeom>
          <a:noFill/>
          <a:ln/>
        </p:spPr>
        <p:txBody>
          <a:bodyPr wrap="square" lIns="0" tIns="0" rIns="0" bIns="0" rtlCol="0" anchor="b"/>
          <a:lstStyle/>
          <a:p>
            <a:pPr marL="0" indent="0" algn="l">
              <a:buNone/>
            </a:pPr>
            <a:r>
              <a:rPr lang="en-US" sz="3800" b="1" dirty="0">
                <a:solidFill>
                  <a:schemeClr val="bg1"/>
                </a:solidFill>
              </a:rPr>
              <a:t>Sea-Bird CTD Data Processing Toolkit</a:t>
            </a:r>
            <a:endParaRPr lang="en-US" sz="3800" dirty="0"/>
          </a:p>
        </p:txBody>
      </p:sp>
      <p:sp>
        <p:nvSpPr>
          <p:cNvPr id="3" name="Text 0"/>
          <p:cNvSpPr>
            <a:spLocks noGrp="1"/>
          </p:cNvSpPr>
          <p:nvPr>
            <p:ph type="body" idx="101" hasCustomPrompt="1"/>
          </p:nvPr>
        </p:nvSpPr>
        <p:spPr>
          <a:xfrm>
            <a:off x="548640" y="3017520"/>
            <a:ext cx="5120640" cy="914400"/>
          </a:xfrm>
          <a:prstGeom prst="rect">
            <a:avLst/>
          </a:prstGeom>
          <a:noFill/>
          <a:ln/>
        </p:spPr>
        <p:txBody>
          <a:bodyPr wrap="square" lIns="0" tIns="0" rIns="0" bIns="0" rtlCol="0" anchor="t"/>
          <a:lstStyle/>
          <a:p>
            <a:pPr marL="0" indent="0" algn="l">
              <a:buNone/>
            </a:pPr>
            <a:r>
              <a:rPr lang="en-US" sz="1800" dirty="0">
                <a:solidFill>
                  <a:schemeClr val="bg2"/>
                </a:solidFill>
              </a:rPr>
              <a:t>Aligning conductivity and oxygen in CTD cast data from SFER cruises</a:t>
            </a:r>
            <a:endParaRPr lang="en-US" sz="1800" dirty="0"/>
          </a:p>
        </p:txBody>
      </p:sp>
      <p:sp>
        <p:nvSpPr>
          <p:cNvPr id="4" name="repo link"/>
          <p:cNvSpPr txBox="1"/>
          <p:nvPr/>
        </p:nvSpPr>
        <p:spPr>
          <a:xfrm>
            <a:off x="548640" y="4389120"/>
            <a:ext cx="5486400" cy="274320"/>
          </a:xfrm>
          <a:prstGeom prst="rect">
            <a:avLst/>
          </a:prstGeom>
          <a:noFill/>
          <a:ln/>
        </p:spPr>
        <p:txBody>
          <a:bodyPr wrap="square" lIns="0" tIns="0" rIns="0" bIns="0" rtlCol="0" anchor="ctr"/>
          <a:lstStyle/>
          <a:p>
            <a:pPr marL="0" indent="0">
              <a:buNone/>
            </a:pPr>
            <a:r>
              <a:rPr lang="en-US" sz="1200" u="sng" dirty="0">
                <a:solidFill>
                  <a:schemeClr val="accent5"/>
                </a:solidFill>
                <a:hlinkClick r:id="rId3" tooltip="https://github.com/GCOOS/SBE-Data-Processing-Toolkit">
                  <a:extLst>
                    <a:ext uri="{A12FA001-AC4F-418D-AE19-62706E023703}">
                      <ahyp:hlinkClr xmlns:ahyp="http://schemas.microsoft.com/office/drawing/2018/hyperlinkcolor" val="tx"/>
                    </a:ext>
                  </a:extLst>
                </a:hlinkClick>
              </a:rPr>
              <a:t>github.com/GCOOS/SBE-Data-Processing-Toolkit</a:t>
            </a:r>
            <a:endParaRPr lang="en-US" sz="1200" dirty="0"/>
          </a:p>
        </p:txBody>
      </p:sp>
      <p:sp>
        <p:nvSpPr>
          <p:cNvPr id="5" name="motif outer"/>
          <p:cNvSpPr/>
          <p:nvPr/>
        </p:nvSpPr>
        <p:spPr>
          <a:xfrm>
            <a:off x="6309360" y="1234440"/>
            <a:ext cx="2377440" cy="2377440"/>
          </a:xfrm>
          <a:prstGeom prst="ellipse">
            <a:avLst/>
          </a:prstGeom>
          <a:solidFill>
            <a:schemeClr val="accent1">
              <a:alpha val="75000"/>
            </a:schemeClr>
          </a:solidFill>
          <a:ln w="12700">
            <a:solidFill>
              <a:schemeClr val="accent1"/>
            </a:solidFill>
            <a:prstDash val="solid"/>
          </a:ln>
        </p:spPr>
        <p:txBody>
          <a:bodyPr/>
          <a:lstStyle/>
          <a:p>
            <a:endParaRPr lang="en-US"/>
          </a:p>
        </p:txBody>
      </p:sp>
      <p:sp>
        <p:nvSpPr>
          <p:cNvPr id="6" name="motif inner"/>
          <p:cNvSpPr/>
          <p:nvPr/>
        </p:nvSpPr>
        <p:spPr>
          <a:xfrm>
            <a:off x="6675120" y="1600200"/>
            <a:ext cx="1645920" cy="1645920"/>
          </a:xfrm>
          <a:prstGeom prst="ellipse">
            <a:avLst/>
          </a:prstGeom>
          <a:solidFill>
            <a:schemeClr val="accent1"/>
          </a:solidFill>
          <a:ln w="12700">
            <a:solidFill>
              <a:schemeClr val="accent1"/>
            </a:solidFill>
            <a:prstDash val="solid"/>
          </a:ln>
        </p:spPr>
        <p:txBody>
          <a:bodyPr/>
          <a:lstStyle/>
          <a:p>
            <a:endParaRPr lang="en-US"/>
          </a:p>
        </p:txBody>
      </p:sp>
      <p:pic>
        <p:nvPicPr>
          <p:cNvPr id="7" name="title icon" descr="Line chart icon"/>
          <p:cNvPicPr>
            <a:picLocks noChangeAspect="1"/>
          </p:cNvPicPr>
          <p:nvPr/>
        </p:nvPicPr>
        <p:blipFill>
          <a:blip r:embed="rId4"/>
          <a:stretch>
            <a:fillRect/>
          </a:stretch>
        </p:blipFill>
        <p:spPr>
          <a:xfrm>
            <a:off x="7086600" y="2011680"/>
            <a:ext cx="822960" cy="8229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594360"/>
          </a:xfrm>
          <a:prstGeom prst="rect">
            <a:avLst/>
          </a:prstGeom>
          <a:noFill/>
          <a:ln/>
        </p:spPr>
        <p:txBody>
          <a:bodyPr wrap="square" lIns="0" tIns="0" rIns="0" bIns="0" rtlCol="0" anchor="ctr"/>
          <a:lstStyle/>
          <a:p>
            <a:pPr marL="0" indent="0" algn="l">
              <a:buNone/>
            </a:pPr>
            <a:r>
              <a:rPr lang="en-US" sz="3200" b="1" dirty="0">
                <a:solidFill>
                  <a:schemeClr val="tx1"/>
                </a:solidFill>
              </a:rPr>
              <a:t>What the Toolkit Does</a:t>
            </a:r>
            <a:endParaRPr lang="en-US" sz="3200" dirty="0"/>
          </a:p>
        </p:txBody>
      </p:sp>
      <p:sp>
        <p:nvSpPr>
          <p:cNvPr id="3" name="tagline"/>
          <p:cNvSpPr txBox="1"/>
          <p:nvPr/>
        </p:nvSpPr>
        <p:spPr>
          <a:xfrm>
            <a:off x="457200" y="896112"/>
            <a:ext cx="8229600" cy="292608"/>
          </a:xfrm>
          <a:prstGeom prst="rect">
            <a:avLst/>
          </a:prstGeom>
          <a:noFill/>
          <a:ln/>
        </p:spPr>
        <p:txBody>
          <a:bodyPr wrap="square" lIns="0" tIns="0" rIns="0" bIns="0" rtlCol="0" anchor="ctr"/>
          <a:lstStyle/>
          <a:p>
            <a:pPr marL="0" indent="0">
              <a:buNone/>
            </a:pPr>
            <a:r>
              <a:rPr lang="en-US" sz="1500" i="1" dirty="0">
                <a:solidFill>
                  <a:schemeClr val="accent1"/>
                </a:solidFill>
              </a:rPr>
              <a:t>Scripts and apps around Sea-Bird SBE Data Processing</a:t>
            </a:r>
            <a:endParaRPr lang="en-US" sz="1500" dirty="0"/>
          </a:p>
        </p:txBody>
      </p:sp>
      <p:sp>
        <p:nvSpPr>
          <p:cNvPr id="4" name="bullets"/>
          <p:cNvSpPr txBox="1"/>
          <p:nvPr/>
        </p:nvSpPr>
        <p:spPr>
          <a:xfrm>
            <a:off x="457200" y="1417320"/>
            <a:ext cx="4754880" cy="3108960"/>
          </a:xfrm>
          <a:prstGeom prst="rect">
            <a:avLst/>
          </a:prstGeom>
          <a:noFill/>
          <a:ln/>
        </p:spPr>
        <p:txBody>
          <a:bodyPr wrap="square" lIns="0" tIns="0" rIns="0" bIns="0" rtlCol="0" anchor="t"/>
          <a:lstStyle/>
          <a:p>
            <a:pPr marL="342900" indent="-342900">
              <a:spcAft>
                <a:spcPts val="700"/>
              </a:spcAft>
              <a:buSzPct val="100000"/>
              <a:buChar char="•"/>
            </a:pPr>
            <a:r>
              <a:rPr lang="en-US" sz="1500" dirty="0">
                <a:solidFill>
                  <a:schemeClr val="tx1"/>
                </a:solidFill>
              </a:rPr>
              <a:t>Prepares a cruise folder and checks cast file names</a:t>
            </a:r>
            <a:endParaRPr lang="en-US" sz="1500" dirty="0"/>
          </a:p>
          <a:p>
            <a:pPr marL="342900" indent="-342900">
              <a:spcAft>
                <a:spcPts val="700"/>
              </a:spcAft>
              <a:buSzPct val="100000"/>
              <a:buChar char="•"/>
            </a:pPr>
            <a:r>
              <a:rPr lang="en-US" sz="1500" dirty="0">
                <a:solidFill>
                  <a:schemeClr val="tx1"/>
                </a:solidFill>
              </a:rPr>
              <a:t>Finds casts where downcast detection kept too little data</a:t>
            </a:r>
            <a:endParaRPr lang="en-US" sz="1500" dirty="0"/>
          </a:p>
          <a:p>
            <a:pPr marL="342900" indent="-342900">
              <a:spcAft>
                <a:spcPts val="700"/>
              </a:spcAft>
              <a:buSzPct val="100000"/>
              <a:buChar char="•"/>
            </a:pPr>
            <a:r>
              <a:rPr lang="en-US" sz="1500" dirty="0">
                <a:solidFill>
                  <a:schemeClr val="tx1"/>
                </a:solidFill>
              </a:rPr>
              <a:t>Tests and compares conductivity and oxygen alignment values</a:t>
            </a:r>
            <a:endParaRPr lang="en-US" sz="1500" dirty="0"/>
          </a:p>
          <a:p>
            <a:pPr marL="342900" indent="-342900">
              <a:spcAft>
                <a:spcPts val="700"/>
              </a:spcAft>
              <a:buSzPct val="100000"/>
              <a:buChar char="•"/>
            </a:pPr>
            <a:r>
              <a:rPr lang="en-US" sz="1500" dirty="0">
                <a:solidFill>
                  <a:schemeClr val="tx1"/>
                </a:solidFill>
              </a:rPr>
              <a:t>Browses converted CNV files as interactive plots</a:t>
            </a:r>
            <a:endParaRPr lang="en-US" sz="1500" dirty="0"/>
          </a:p>
          <a:p>
            <a:pPr marL="342900" indent="-342900">
              <a:spcAft>
                <a:spcPts val="700"/>
              </a:spcAft>
              <a:buSzPct val="100000"/>
              <a:buChar char="•"/>
            </a:pPr>
            <a:r>
              <a:rPr lang="en-US" sz="1500" dirty="0">
                <a:solidFill>
                  <a:schemeClr val="tx1"/>
                </a:solidFill>
              </a:rPr>
              <a:t>MIT-licensed, open source on GitHub</a:t>
            </a:r>
            <a:endParaRPr lang="en-US" sz="1500" dirty="0"/>
          </a:p>
        </p:txBody>
      </p:sp>
      <p:sp>
        <p:nvSpPr>
          <p:cNvPr id="5" name="Shape 3"/>
          <p:cNvSpPr/>
          <p:nvPr/>
        </p:nvSpPr>
        <p:spPr>
          <a:xfrm>
            <a:off x="5486400" y="1417320"/>
            <a:ext cx="3200400" cy="713232"/>
          </a:xfrm>
          <a:prstGeom prst="roundRect">
            <a:avLst>
              <a:gd name="adj" fmla="val 12821"/>
            </a:avLst>
          </a:prstGeom>
          <a:solidFill>
            <a:schemeClr val="bg2"/>
          </a:solidFill>
          <a:ln w="12700">
            <a:solidFill>
              <a:schemeClr val="bg2"/>
            </a:solidFill>
            <a:prstDash val="solid"/>
          </a:ln>
        </p:spPr>
        <p:txBody>
          <a:bodyPr/>
          <a:lstStyle/>
          <a:p>
            <a:endParaRPr lang="en-US"/>
          </a:p>
        </p:txBody>
      </p:sp>
      <p:sp>
        <p:nvSpPr>
          <p:cNvPr id="6" name="Windows circle"/>
          <p:cNvSpPr/>
          <p:nvPr/>
        </p:nvSpPr>
        <p:spPr>
          <a:xfrm>
            <a:off x="5596128" y="1527048"/>
            <a:ext cx="493776" cy="493776"/>
          </a:xfrm>
          <a:prstGeom prst="ellipse">
            <a:avLst/>
          </a:prstGeom>
          <a:solidFill>
            <a:schemeClr val="accent1"/>
          </a:solidFill>
          <a:ln w="12700">
            <a:solidFill>
              <a:schemeClr val="accent1"/>
            </a:solidFill>
            <a:prstDash val="solid"/>
          </a:ln>
        </p:spPr>
        <p:txBody>
          <a:bodyPr/>
          <a:lstStyle/>
          <a:p>
            <a:endParaRPr lang="en-US"/>
          </a:p>
        </p:txBody>
      </p:sp>
      <p:pic>
        <p:nvPicPr>
          <p:cNvPr id="7" name="Windows" descr="Windows"/>
          <p:cNvPicPr>
            <a:picLocks noChangeAspect="1"/>
          </p:cNvPicPr>
          <p:nvPr/>
        </p:nvPicPr>
        <p:blipFill>
          <a:blip r:embed="rId3"/>
          <a:stretch>
            <a:fillRect/>
          </a:stretch>
        </p:blipFill>
        <p:spPr>
          <a:xfrm>
            <a:off x="5714634" y="1645554"/>
            <a:ext cx="256764" cy="256764"/>
          </a:xfrm>
          <a:prstGeom prst="rect">
            <a:avLst/>
          </a:prstGeom>
        </p:spPr>
      </p:pic>
      <p:sp>
        <p:nvSpPr>
          <p:cNvPr id="8" name="req title 0"/>
          <p:cNvSpPr txBox="1"/>
          <p:nvPr/>
        </p:nvSpPr>
        <p:spPr>
          <a:xfrm>
            <a:off x="6217920" y="1508760"/>
            <a:ext cx="2423160" cy="274320"/>
          </a:xfrm>
          <a:prstGeom prst="rect">
            <a:avLst/>
          </a:prstGeom>
          <a:noFill/>
          <a:ln/>
        </p:spPr>
        <p:txBody>
          <a:bodyPr wrap="square" lIns="0" tIns="0" rIns="0" bIns="0" rtlCol="0" anchor="ctr"/>
          <a:lstStyle/>
          <a:p>
            <a:pPr marL="0" indent="0">
              <a:buNone/>
            </a:pPr>
            <a:r>
              <a:rPr lang="en-US" sz="1400" b="1" dirty="0">
                <a:solidFill>
                  <a:schemeClr val="tx1"/>
                </a:solidFill>
              </a:rPr>
              <a:t>Windows</a:t>
            </a:r>
            <a:endParaRPr lang="en-US" sz="1400" dirty="0"/>
          </a:p>
        </p:txBody>
      </p:sp>
      <p:sp>
        <p:nvSpPr>
          <p:cNvPr id="9" name="req sub 0"/>
          <p:cNvSpPr txBox="1"/>
          <p:nvPr/>
        </p:nvSpPr>
        <p:spPr>
          <a:xfrm>
            <a:off x="6217920" y="1801368"/>
            <a:ext cx="2423160" cy="256032"/>
          </a:xfrm>
          <a:prstGeom prst="rect">
            <a:avLst/>
          </a:prstGeom>
          <a:noFill/>
          <a:ln/>
        </p:spPr>
        <p:txBody>
          <a:bodyPr wrap="square" lIns="0" tIns="0" rIns="0" bIns="0" rtlCol="0" anchor="ctr"/>
          <a:lstStyle/>
          <a:p>
            <a:pPr marL="0" indent="0">
              <a:buNone/>
            </a:pPr>
            <a:r>
              <a:rPr lang="en-US" sz="1100" dirty="0">
                <a:solidFill>
                  <a:schemeClr val="accent6"/>
                </a:solidFill>
              </a:rPr>
              <a:t>Sea-Bird software is Windows-only</a:t>
            </a:r>
            <a:endParaRPr lang="en-US" sz="1100" dirty="0"/>
          </a:p>
        </p:txBody>
      </p:sp>
      <p:sp>
        <p:nvSpPr>
          <p:cNvPr id="10" name="Shape 7"/>
          <p:cNvSpPr/>
          <p:nvPr/>
        </p:nvSpPr>
        <p:spPr>
          <a:xfrm>
            <a:off x="5486400" y="2240280"/>
            <a:ext cx="3200400" cy="713232"/>
          </a:xfrm>
          <a:prstGeom prst="roundRect">
            <a:avLst>
              <a:gd name="adj" fmla="val 12821"/>
            </a:avLst>
          </a:prstGeom>
          <a:solidFill>
            <a:schemeClr val="bg2"/>
          </a:solidFill>
          <a:ln w="12700">
            <a:solidFill>
              <a:schemeClr val="bg2"/>
            </a:solidFill>
            <a:prstDash val="solid"/>
          </a:ln>
        </p:spPr>
        <p:txBody>
          <a:bodyPr/>
          <a:lstStyle/>
          <a:p>
            <a:endParaRPr lang="en-US"/>
          </a:p>
        </p:txBody>
      </p:sp>
      <p:sp>
        <p:nvSpPr>
          <p:cNvPr id="11" name="SBE Data Processing circle"/>
          <p:cNvSpPr/>
          <p:nvPr/>
        </p:nvSpPr>
        <p:spPr>
          <a:xfrm>
            <a:off x="5596128" y="2350008"/>
            <a:ext cx="493776" cy="493776"/>
          </a:xfrm>
          <a:prstGeom prst="ellipse">
            <a:avLst/>
          </a:prstGeom>
          <a:solidFill>
            <a:schemeClr val="accent3"/>
          </a:solidFill>
          <a:ln w="12700">
            <a:solidFill>
              <a:schemeClr val="accent3"/>
            </a:solidFill>
            <a:prstDash val="solid"/>
          </a:ln>
        </p:spPr>
        <p:txBody>
          <a:bodyPr/>
          <a:lstStyle/>
          <a:p>
            <a:endParaRPr lang="en-US"/>
          </a:p>
        </p:txBody>
      </p:sp>
      <p:pic>
        <p:nvPicPr>
          <p:cNvPr id="12" name="SBE Data Processing" descr="SBE Data Processing"/>
          <p:cNvPicPr>
            <a:picLocks noChangeAspect="1"/>
          </p:cNvPicPr>
          <p:nvPr/>
        </p:nvPicPr>
        <p:blipFill>
          <a:blip r:embed="rId4"/>
          <a:stretch>
            <a:fillRect/>
          </a:stretch>
        </p:blipFill>
        <p:spPr>
          <a:xfrm>
            <a:off x="5714634" y="2468514"/>
            <a:ext cx="256764" cy="256764"/>
          </a:xfrm>
          <a:prstGeom prst="rect">
            <a:avLst/>
          </a:prstGeom>
        </p:spPr>
      </p:pic>
      <p:sp>
        <p:nvSpPr>
          <p:cNvPr id="13" name="req title 1"/>
          <p:cNvSpPr txBox="1"/>
          <p:nvPr/>
        </p:nvSpPr>
        <p:spPr>
          <a:xfrm>
            <a:off x="6217920" y="2331720"/>
            <a:ext cx="2423160" cy="274320"/>
          </a:xfrm>
          <a:prstGeom prst="rect">
            <a:avLst/>
          </a:prstGeom>
          <a:noFill/>
          <a:ln/>
        </p:spPr>
        <p:txBody>
          <a:bodyPr wrap="square" lIns="0" tIns="0" rIns="0" bIns="0" rtlCol="0" anchor="ctr"/>
          <a:lstStyle/>
          <a:p>
            <a:pPr marL="0" indent="0">
              <a:buNone/>
            </a:pPr>
            <a:r>
              <a:rPr lang="en-US" sz="1400" b="1" dirty="0">
                <a:solidFill>
                  <a:schemeClr val="tx1"/>
                </a:solidFill>
              </a:rPr>
              <a:t>SBE Data Processing</a:t>
            </a:r>
            <a:endParaRPr lang="en-US" sz="1400" dirty="0"/>
          </a:p>
        </p:txBody>
      </p:sp>
      <p:sp>
        <p:nvSpPr>
          <p:cNvPr id="14" name="req sub 1"/>
          <p:cNvSpPr txBox="1"/>
          <p:nvPr/>
        </p:nvSpPr>
        <p:spPr>
          <a:xfrm>
            <a:off x="6217920" y="2624328"/>
            <a:ext cx="2423160" cy="256032"/>
          </a:xfrm>
          <a:prstGeom prst="rect">
            <a:avLst/>
          </a:prstGeom>
          <a:noFill/>
          <a:ln/>
        </p:spPr>
        <p:txBody>
          <a:bodyPr wrap="square" lIns="0" tIns="0" rIns="0" bIns="0" rtlCol="0" anchor="ctr"/>
          <a:lstStyle/>
          <a:p>
            <a:pPr marL="0" indent="0">
              <a:buNone/>
            </a:pPr>
            <a:r>
              <a:rPr lang="en-US" sz="1100" dirty="0">
                <a:solidFill>
                  <a:schemeClr val="accent6"/>
                </a:solidFill>
              </a:rPr>
              <a:t>SBEBatch.exe must be on the PATH</a:t>
            </a:r>
            <a:endParaRPr lang="en-US" sz="1100" dirty="0"/>
          </a:p>
        </p:txBody>
      </p:sp>
      <p:sp>
        <p:nvSpPr>
          <p:cNvPr id="15" name="Shape 11"/>
          <p:cNvSpPr/>
          <p:nvPr/>
        </p:nvSpPr>
        <p:spPr>
          <a:xfrm>
            <a:off x="5486400" y="3063240"/>
            <a:ext cx="3200400" cy="713232"/>
          </a:xfrm>
          <a:prstGeom prst="roundRect">
            <a:avLst>
              <a:gd name="adj" fmla="val 12821"/>
            </a:avLst>
          </a:prstGeom>
          <a:solidFill>
            <a:schemeClr val="bg2"/>
          </a:solidFill>
          <a:ln w="12700">
            <a:solidFill>
              <a:schemeClr val="bg2"/>
            </a:solidFill>
            <a:prstDash val="solid"/>
          </a:ln>
        </p:spPr>
        <p:txBody>
          <a:bodyPr/>
          <a:lstStyle/>
          <a:p>
            <a:endParaRPr lang="en-US"/>
          </a:p>
        </p:txBody>
      </p:sp>
      <p:sp>
        <p:nvSpPr>
          <p:cNvPr id="16" name="Python 3.11+ circle"/>
          <p:cNvSpPr/>
          <p:nvPr/>
        </p:nvSpPr>
        <p:spPr>
          <a:xfrm>
            <a:off x="5596128" y="3172968"/>
            <a:ext cx="493776" cy="493776"/>
          </a:xfrm>
          <a:prstGeom prst="ellipse">
            <a:avLst/>
          </a:prstGeom>
          <a:solidFill>
            <a:schemeClr val="accent1"/>
          </a:solidFill>
          <a:ln w="12700">
            <a:solidFill>
              <a:schemeClr val="accent1"/>
            </a:solidFill>
            <a:prstDash val="solid"/>
          </a:ln>
        </p:spPr>
        <p:txBody>
          <a:bodyPr/>
          <a:lstStyle/>
          <a:p>
            <a:endParaRPr lang="en-US"/>
          </a:p>
        </p:txBody>
      </p:sp>
      <p:pic>
        <p:nvPicPr>
          <p:cNvPr id="17" name="Python 3.11+" descr="Python 3.11+"/>
          <p:cNvPicPr>
            <a:picLocks noChangeAspect="1"/>
          </p:cNvPicPr>
          <p:nvPr/>
        </p:nvPicPr>
        <p:blipFill>
          <a:blip r:embed="rId5"/>
          <a:stretch>
            <a:fillRect/>
          </a:stretch>
        </p:blipFill>
        <p:spPr>
          <a:xfrm>
            <a:off x="5714634" y="3291474"/>
            <a:ext cx="256764" cy="256764"/>
          </a:xfrm>
          <a:prstGeom prst="rect">
            <a:avLst/>
          </a:prstGeom>
        </p:spPr>
      </p:pic>
      <p:sp>
        <p:nvSpPr>
          <p:cNvPr id="18" name="req title 2"/>
          <p:cNvSpPr txBox="1"/>
          <p:nvPr/>
        </p:nvSpPr>
        <p:spPr>
          <a:xfrm>
            <a:off x="6217920" y="3154680"/>
            <a:ext cx="2423160" cy="274320"/>
          </a:xfrm>
          <a:prstGeom prst="rect">
            <a:avLst/>
          </a:prstGeom>
          <a:noFill/>
          <a:ln/>
        </p:spPr>
        <p:txBody>
          <a:bodyPr wrap="square" lIns="0" tIns="0" rIns="0" bIns="0" rtlCol="0" anchor="ctr"/>
          <a:lstStyle/>
          <a:p>
            <a:pPr marL="0" indent="0">
              <a:buNone/>
            </a:pPr>
            <a:r>
              <a:rPr lang="en-US" sz="1400" b="1" dirty="0">
                <a:solidFill>
                  <a:schemeClr val="tx1"/>
                </a:solidFill>
              </a:rPr>
              <a:t>Python 3.11+</a:t>
            </a:r>
            <a:endParaRPr lang="en-US" sz="1400" dirty="0"/>
          </a:p>
        </p:txBody>
      </p:sp>
      <p:sp>
        <p:nvSpPr>
          <p:cNvPr id="19" name="req sub 2"/>
          <p:cNvSpPr txBox="1"/>
          <p:nvPr/>
        </p:nvSpPr>
        <p:spPr>
          <a:xfrm>
            <a:off x="6217920" y="3447288"/>
            <a:ext cx="2423160" cy="256032"/>
          </a:xfrm>
          <a:prstGeom prst="rect">
            <a:avLst/>
          </a:prstGeom>
          <a:noFill/>
          <a:ln/>
        </p:spPr>
        <p:txBody>
          <a:bodyPr wrap="square" lIns="0" tIns="0" rIns="0" bIns="0" rtlCol="0" anchor="ctr"/>
          <a:lstStyle/>
          <a:p>
            <a:pPr marL="0" indent="0">
              <a:buNone/>
            </a:pPr>
            <a:r>
              <a:rPr lang="en-US" sz="1100" dirty="0">
                <a:solidFill>
                  <a:schemeClr val="accent6"/>
                </a:solidFill>
              </a:rPr>
              <a:t>dash, pandas, plotly</a:t>
            </a:r>
            <a:endParaRPr lang="en-US" sz="1100" dirty="0"/>
          </a:p>
        </p:txBody>
      </p:sp>
      <p:sp>
        <p:nvSpPr>
          <p:cNvPr id="20" name="Shape 15"/>
          <p:cNvSpPr/>
          <p:nvPr/>
        </p:nvSpPr>
        <p:spPr>
          <a:xfrm>
            <a:off x="5486400" y="3886200"/>
            <a:ext cx="3200400" cy="713232"/>
          </a:xfrm>
          <a:prstGeom prst="roundRect">
            <a:avLst>
              <a:gd name="adj" fmla="val 12821"/>
            </a:avLst>
          </a:prstGeom>
          <a:solidFill>
            <a:schemeClr val="bg2"/>
          </a:solidFill>
          <a:ln w="12700">
            <a:solidFill>
              <a:schemeClr val="bg2"/>
            </a:solidFill>
            <a:prstDash val="solid"/>
          </a:ln>
        </p:spPr>
        <p:txBody>
          <a:bodyPr/>
          <a:lstStyle/>
          <a:p>
            <a:endParaRPr lang="en-US"/>
          </a:p>
        </p:txBody>
      </p:sp>
      <p:sp>
        <p:nvSpPr>
          <p:cNvPr id="21" name="Bash terminal circle"/>
          <p:cNvSpPr/>
          <p:nvPr/>
        </p:nvSpPr>
        <p:spPr>
          <a:xfrm>
            <a:off x="5596128" y="3995928"/>
            <a:ext cx="493776" cy="493776"/>
          </a:xfrm>
          <a:prstGeom prst="ellipse">
            <a:avLst/>
          </a:prstGeom>
          <a:solidFill>
            <a:schemeClr val="accent3"/>
          </a:solidFill>
          <a:ln w="12700">
            <a:solidFill>
              <a:schemeClr val="accent3"/>
            </a:solidFill>
            <a:prstDash val="solid"/>
          </a:ln>
        </p:spPr>
        <p:txBody>
          <a:bodyPr/>
          <a:lstStyle/>
          <a:p>
            <a:endParaRPr lang="en-US"/>
          </a:p>
        </p:txBody>
      </p:sp>
      <p:pic>
        <p:nvPicPr>
          <p:cNvPr id="22" name="Bash terminal" descr="Bash terminal"/>
          <p:cNvPicPr>
            <a:picLocks noChangeAspect="1"/>
          </p:cNvPicPr>
          <p:nvPr/>
        </p:nvPicPr>
        <p:blipFill>
          <a:blip r:embed="rId6"/>
          <a:stretch>
            <a:fillRect/>
          </a:stretch>
        </p:blipFill>
        <p:spPr>
          <a:xfrm>
            <a:off x="5714634" y="4114434"/>
            <a:ext cx="256764" cy="256764"/>
          </a:xfrm>
          <a:prstGeom prst="rect">
            <a:avLst/>
          </a:prstGeom>
        </p:spPr>
      </p:pic>
      <p:sp>
        <p:nvSpPr>
          <p:cNvPr id="23" name="req title 3"/>
          <p:cNvSpPr txBox="1"/>
          <p:nvPr/>
        </p:nvSpPr>
        <p:spPr>
          <a:xfrm>
            <a:off x="6217920" y="3977640"/>
            <a:ext cx="2423160" cy="274320"/>
          </a:xfrm>
          <a:prstGeom prst="rect">
            <a:avLst/>
          </a:prstGeom>
          <a:noFill/>
          <a:ln/>
        </p:spPr>
        <p:txBody>
          <a:bodyPr wrap="square" lIns="0" tIns="0" rIns="0" bIns="0" rtlCol="0" anchor="ctr"/>
          <a:lstStyle/>
          <a:p>
            <a:pPr marL="0" indent="0">
              <a:buNone/>
            </a:pPr>
            <a:r>
              <a:rPr lang="en-US" sz="1400" b="1" dirty="0">
                <a:solidFill>
                  <a:schemeClr val="tx1"/>
                </a:solidFill>
              </a:rPr>
              <a:t>Bash terminal</a:t>
            </a:r>
            <a:endParaRPr lang="en-US" sz="1400" dirty="0"/>
          </a:p>
        </p:txBody>
      </p:sp>
      <p:sp>
        <p:nvSpPr>
          <p:cNvPr id="24" name="req sub 3"/>
          <p:cNvSpPr txBox="1"/>
          <p:nvPr/>
        </p:nvSpPr>
        <p:spPr>
          <a:xfrm>
            <a:off x="6217920" y="4270248"/>
            <a:ext cx="2423160" cy="256032"/>
          </a:xfrm>
          <a:prstGeom prst="rect">
            <a:avLst/>
          </a:prstGeom>
          <a:noFill/>
          <a:ln/>
        </p:spPr>
        <p:txBody>
          <a:bodyPr wrap="square" lIns="0" tIns="0" rIns="0" bIns="0" rtlCol="0" anchor="ctr"/>
          <a:lstStyle/>
          <a:p>
            <a:pPr marL="0" indent="0">
              <a:buNone/>
            </a:pPr>
            <a:r>
              <a:rPr lang="en-US" sz="1100" dirty="0">
                <a:solidFill>
                  <a:schemeClr val="accent6"/>
                </a:solidFill>
              </a:rPr>
              <a:t>perl, sed, awk (Git Bash, WSL, Cygwin)</a:t>
            </a:r>
            <a:endParaRPr lang="en-US" sz="11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594360"/>
          </a:xfrm>
          <a:prstGeom prst="rect">
            <a:avLst/>
          </a:prstGeom>
          <a:noFill/>
          <a:ln/>
        </p:spPr>
        <p:txBody>
          <a:bodyPr wrap="square" lIns="0" tIns="0" rIns="0" bIns="0" rtlCol="0" anchor="ctr"/>
          <a:lstStyle/>
          <a:p>
            <a:pPr marL="0" indent="0" algn="l">
              <a:buNone/>
            </a:pPr>
            <a:r>
              <a:rPr lang="en-US" sz="3200" b="1" dirty="0">
                <a:solidFill>
                  <a:schemeClr val="tx1"/>
                </a:solidFill>
              </a:rPr>
              <a:t>Recommended Conversion Workflow</a:t>
            </a:r>
            <a:endParaRPr lang="en-US" sz="3200" dirty="0"/>
          </a:p>
        </p:txBody>
      </p:sp>
      <p:sp>
        <p:nvSpPr>
          <p:cNvPr id="3" name="tagline"/>
          <p:cNvSpPr txBox="1"/>
          <p:nvPr/>
        </p:nvSpPr>
        <p:spPr>
          <a:xfrm>
            <a:off x="457200" y="896112"/>
            <a:ext cx="8229600" cy="292608"/>
          </a:xfrm>
          <a:prstGeom prst="rect">
            <a:avLst/>
          </a:prstGeom>
          <a:noFill/>
          <a:ln/>
        </p:spPr>
        <p:txBody>
          <a:bodyPr wrap="square" lIns="0" tIns="0" rIns="0" bIns="0" rtlCol="0" anchor="ctr"/>
          <a:lstStyle/>
          <a:p>
            <a:pPr marL="0" indent="0">
              <a:buNone/>
            </a:pPr>
            <a:r>
              <a:rPr lang="en-US" sz="1500" i="1" dirty="0">
                <a:solidFill>
                  <a:schemeClr val="accent1"/>
                </a:solidFill>
              </a:rPr>
              <a:t>Two options: take the defaults, or find the best alignment values</a:t>
            </a:r>
            <a:endParaRPr lang="en-US" sz="1500" dirty="0"/>
          </a:p>
        </p:txBody>
      </p:sp>
      <p:sp>
        <p:nvSpPr>
          <p:cNvPr id="4" name="Shape 2"/>
          <p:cNvSpPr/>
          <p:nvPr/>
        </p:nvSpPr>
        <p:spPr>
          <a:xfrm>
            <a:off x="457200" y="1371600"/>
            <a:ext cx="8229600" cy="640080"/>
          </a:xfrm>
          <a:prstGeom prst="roundRect">
            <a:avLst>
              <a:gd name="adj" fmla="val 14286"/>
            </a:avLst>
          </a:prstGeom>
          <a:solidFill>
            <a:schemeClr val="accent3"/>
          </a:solidFill>
          <a:ln w="12700">
            <a:solidFill>
              <a:schemeClr val="accent3"/>
            </a:solidFill>
            <a:prstDash val="solid"/>
          </a:ln>
        </p:spPr>
        <p:txBody>
          <a:bodyPr/>
          <a:lstStyle/>
          <a:p>
            <a:endParaRPr lang="en-US"/>
          </a:p>
        </p:txBody>
      </p:sp>
      <p:sp>
        <p:nvSpPr>
          <p:cNvPr id="5" name="prep"/>
          <p:cNvSpPr txBox="1"/>
          <p:nvPr/>
        </p:nvSpPr>
        <p:spPr>
          <a:xfrm>
            <a:off x="640080" y="1371600"/>
            <a:ext cx="7863840" cy="640080"/>
          </a:xfrm>
          <a:prstGeom prst="rect">
            <a:avLst/>
          </a:prstGeom>
          <a:noFill/>
          <a:ln/>
        </p:spPr>
        <p:txBody>
          <a:bodyPr wrap="square" lIns="0" tIns="0" rIns="0" bIns="0" rtlCol="0" anchor="ctr"/>
          <a:lstStyle/>
          <a:p>
            <a:pPr marL="0" indent="0">
              <a:buNone/>
            </a:pPr>
            <a:r>
              <a:rPr lang="en-US" sz="1500" b="1" dirty="0">
                <a:solidFill>
                  <a:schemeClr val="bg1"/>
                </a:solidFill>
              </a:rPr>
              <a:t>Prepare the cruise folder: init script, copy casts to CNV, rename files, check naming</a:t>
            </a:r>
            <a:endParaRPr lang="en-US" sz="1500" dirty="0"/>
          </a:p>
        </p:txBody>
      </p:sp>
      <p:sp>
        <p:nvSpPr>
          <p:cNvPr id="6" name="Shape 4"/>
          <p:cNvSpPr/>
          <p:nvPr/>
        </p:nvSpPr>
        <p:spPr>
          <a:xfrm>
            <a:off x="457200" y="2240280"/>
            <a:ext cx="1737360" cy="731520"/>
          </a:xfrm>
          <a:prstGeom prst="roundRect">
            <a:avLst>
              <a:gd name="adj" fmla="val 12500"/>
            </a:avLst>
          </a:prstGeom>
          <a:solidFill>
            <a:schemeClr val="accent1"/>
          </a:solidFill>
          <a:ln w="12700">
            <a:solidFill>
              <a:schemeClr val="accent1"/>
            </a:solidFill>
            <a:prstDash val="solid"/>
          </a:ln>
        </p:spPr>
        <p:txBody>
          <a:bodyPr/>
          <a:lstStyle/>
          <a:p>
            <a:endParaRPr lang="en-US"/>
          </a:p>
        </p:txBody>
      </p:sp>
      <p:sp>
        <p:nvSpPr>
          <p:cNvPr id="7" name="opt1 label"/>
          <p:cNvSpPr txBox="1"/>
          <p:nvPr/>
        </p:nvSpPr>
        <p:spPr>
          <a:xfrm>
            <a:off x="457200" y="2240280"/>
            <a:ext cx="1737360" cy="731520"/>
          </a:xfrm>
          <a:prstGeom prst="rect">
            <a:avLst/>
          </a:prstGeom>
          <a:noFill/>
          <a:ln/>
        </p:spPr>
        <p:txBody>
          <a:bodyPr wrap="square" lIns="0" tIns="0" rIns="0" bIns="0" rtlCol="0" anchor="ctr"/>
          <a:lstStyle/>
          <a:p>
            <a:pPr marL="0" indent="0" algn="ctr">
              <a:buNone/>
            </a:pPr>
            <a:r>
              <a:rPr lang="en-US" sz="1400" b="1" dirty="0">
                <a:solidFill>
                  <a:schemeClr val="bg1"/>
                </a:solidFill>
              </a:rPr>
              <a:t>Option 1</a:t>
            </a:r>
            <a:endParaRPr lang="en-US" sz="1400" dirty="0"/>
          </a:p>
          <a:p>
            <a:pPr marL="0" indent="0" algn="ctr">
              <a:buNone/>
            </a:pPr>
            <a:r>
              <a:rPr lang="en-US" sz="1400" b="1" dirty="0">
                <a:solidFill>
                  <a:schemeClr val="bg1"/>
                </a:solidFill>
              </a:rPr>
              <a:t>Default values</a:t>
            </a:r>
            <a:endParaRPr lang="en-US" sz="1400" dirty="0"/>
          </a:p>
        </p:txBody>
      </p:sp>
      <p:sp>
        <p:nvSpPr>
          <p:cNvPr id="8" name="Shape 6"/>
          <p:cNvSpPr/>
          <p:nvPr/>
        </p:nvSpPr>
        <p:spPr>
          <a:xfrm>
            <a:off x="2331720" y="2240280"/>
            <a:ext cx="4572000" cy="731520"/>
          </a:xfrm>
          <a:prstGeom prst="roundRect">
            <a:avLst>
              <a:gd name="adj" fmla="val 12500"/>
            </a:avLst>
          </a:prstGeom>
          <a:solidFill>
            <a:schemeClr val="bg2"/>
          </a:solidFill>
          <a:ln w="12700">
            <a:solidFill>
              <a:schemeClr val="bg2"/>
            </a:solidFill>
            <a:prstDash val="solid"/>
          </a:ln>
        </p:spPr>
        <p:txBody>
          <a:bodyPr/>
          <a:lstStyle/>
          <a:p>
            <a:endParaRPr lang="en-US"/>
          </a:p>
        </p:txBody>
      </p:sp>
      <p:sp>
        <p:nvSpPr>
          <p:cNvPr id="9" name="opt1 step"/>
          <p:cNvSpPr txBox="1"/>
          <p:nvPr/>
        </p:nvSpPr>
        <p:spPr>
          <a:xfrm>
            <a:off x="2468880" y="2240280"/>
            <a:ext cx="4297680" cy="731520"/>
          </a:xfrm>
          <a:prstGeom prst="rect">
            <a:avLst/>
          </a:prstGeom>
          <a:noFill/>
          <a:ln/>
        </p:spPr>
        <p:txBody>
          <a:bodyPr wrap="square" lIns="0" tIns="0" rIns="0" bIns="0" rtlCol="0" anchor="ctr"/>
          <a:lstStyle/>
          <a:p>
            <a:pPr marL="0" indent="0">
              <a:buNone/>
            </a:pPr>
            <a:r>
              <a:rPr lang="en-US" sz="1400" dirty="0">
                <a:solidFill>
                  <a:schemeClr val="tx1"/>
                </a:solidFill>
              </a:rPr>
              <a:t>Convert all data in CNV, downcast and upcast</a:t>
            </a:r>
            <a:endParaRPr lang="en-US" sz="1400" dirty="0"/>
          </a:p>
        </p:txBody>
      </p:sp>
      <p:sp>
        <p:nvSpPr>
          <p:cNvPr id="10" name="Shape 8"/>
          <p:cNvSpPr/>
          <p:nvPr/>
        </p:nvSpPr>
        <p:spPr>
          <a:xfrm>
            <a:off x="7040880" y="2240280"/>
            <a:ext cx="1645920" cy="731520"/>
          </a:xfrm>
          <a:prstGeom prst="roundRect">
            <a:avLst>
              <a:gd name="adj" fmla="val 12500"/>
            </a:avLst>
          </a:prstGeom>
          <a:solidFill>
            <a:schemeClr val="accent5"/>
          </a:solidFill>
          <a:ln w="12700">
            <a:solidFill>
              <a:schemeClr val="accent5"/>
            </a:solidFill>
            <a:prstDash val="solid"/>
          </a:ln>
        </p:spPr>
        <p:txBody>
          <a:bodyPr/>
          <a:lstStyle/>
          <a:p>
            <a:endParaRPr lang="en-US"/>
          </a:p>
        </p:txBody>
      </p:sp>
      <p:sp>
        <p:nvSpPr>
          <p:cNvPr id="11" name="opt1 done"/>
          <p:cNvSpPr txBox="1"/>
          <p:nvPr/>
        </p:nvSpPr>
        <p:spPr>
          <a:xfrm>
            <a:off x="7040880" y="2240280"/>
            <a:ext cx="1645920" cy="731520"/>
          </a:xfrm>
          <a:prstGeom prst="rect">
            <a:avLst/>
          </a:prstGeom>
          <a:noFill/>
          <a:ln/>
        </p:spPr>
        <p:txBody>
          <a:bodyPr wrap="square" lIns="0" tIns="0" rIns="0" bIns="0" rtlCol="0" anchor="ctr"/>
          <a:lstStyle/>
          <a:p>
            <a:pPr marL="0" indent="0" algn="ctr">
              <a:buNone/>
            </a:pPr>
            <a:r>
              <a:rPr lang="en-US" sz="1600" b="1" dirty="0">
                <a:solidFill>
                  <a:schemeClr val="tx1"/>
                </a:solidFill>
              </a:rPr>
              <a:t>Done</a:t>
            </a:r>
            <a:endParaRPr lang="en-US" sz="1600" dirty="0"/>
          </a:p>
        </p:txBody>
      </p:sp>
      <p:sp>
        <p:nvSpPr>
          <p:cNvPr id="12" name="Shape 10"/>
          <p:cNvSpPr/>
          <p:nvPr/>
        </p:nvSpPr>
        <p:spPr>
          <a:xfrm>
            <a:off x="457200" y="3200400"/>
            <a:ext cx="1737360" cy="1325880"/>
          </a:xfrm>
          <a:prstGeom prst="roundRect">
            <a:avLst>
              <a:gd name="adj" fmla="val 6897"/>
            </a:avLst>
          </a:prstGeom>
          <a:solidFill>
            <a:schemeClr val="accent2"/>
          </a:solidFill>
          <a:ln w="12700">
            <a:solidFill>
              <a:schemeClr val="accent2"/>
            </a:solidFill>
            <a:prstDash val="solid"/>
          </a:ln>
        </p:spPr>
        <p:txBody>
          <a:bodyPr/>
          <a:lstStyle/>
          <a:p>
            <a:endParaRPr lang="en-US"/>
          </a:p>
        </p:txBody>
      </p:sp>
      <p:sp>
        <p:nvSpPr>
          <p:cNvPr id="13" name="opt2 label"/>
          <p:cNvSpPr txBox="1"/>
          <p:nvPr/>
        </p:nvSpPr>
        <p:spPr>
          <a:xfrm>
            <a:off x="457200" y="3200400"/>
            <a:ext cx="1737360" cy="1325880"/>
          </a:xfrm>
          <a:prstGeom prst="rect">
            <a:avLst/>
          </a:prstGeom>
          <a:noFill/>
          <a:ln/>
        </p:spPr>
        <p:txBody>
          <a:bodyPr wrap="square" lIns="0" tIns="0" rIns="0" bIns="0" rtlCol="0" anchor="ctr"/>
          <a:lstStyle/>
          <a:p>
            <a:pPr marL="0" indent="0" algn="ctr">
              <a:buNone/>
            </a:pPr>
            <a:r>
              <a:rPr lang="en-US" sz="1400" b="1" dirty="0">
                <a:solidFill>
                  <a:schemeClr val="bg1"/>
                </a:solidFill>
              </a:rPr>
              <a:t>Option 2</a:t>
            </a:r>
            <a:endParaRPr lang="en-US" sz="1400" dirty="0"/>
          </a:p>
          <a:p>
            <a:pPr marL="0" indent="0" algn="ctr">
              <a:buNone/>
            </a:pPr>
            <a:r>
              <a:rPr lang="en-US" sz="1400" b="1" dirty="0">
                <a:solidFill>
                  <a:schemeClr val="bg1"/>
                </a:solidFill>
              </a:rPr>
              <a:t>Find the best values</a:t>
            </a:r>
            <a:endParaRPr lang="en-US" sz="1400" dirty="0"/>
          </a:p>
        </p:txBody>
      </p:sp>
      <p:sp>
        <p:nvSpPr>
          <p:cNvPr id="14" name="Shape 12"/>
          <p:cNvSpPr/>
          <p:nvPr/>
        </p:nvSpPr>
        <p:spPr>
          <a:xfrm>
            <a:off x="2331720" y="3200400"/>
            <a:ext cx="1188720" cy="1325880"/>
          </a:xfrm>
          <a:prstGeom prst="roundRect">
            <a:avLst>
              <a:gd name="adj" fmla="val 7692"/>
            </a:avLst>
          </a:prstGeom>
          <a:solidFill>
            <a:schemeClr val="bg2"/>
          </a:solidFill>
          <a:ln w="12700">
            <a:solidFill>
              <a:schemeClr val="bg2"/>
            </a:solidFill>
            <a:prstDash val="solid"/>
          </a:ln>
        </p:spPr>
        <p:txBody>
          <a:bodyPr/>
          <a:lstStyle/>
          <a:p>
            <a:endParaRPr lang="en-US"/>
          </a:p>
        </p:txBody>
      </p:sp>
      <p:sp>
        <p:nvSpPr>
          <p:cNvPr id="15" name="step badge 1"/>
          <p:cNvSpPr/>
          <p:nvPr/>
        </p:nvSpPr>
        <p:spPr>
          <a:xfrm>
            <a:off x="2743200" y="3273552"/>
            <a:ext cx="365760" cy="365760"/>
          </a:xfrm>
          <a:prstGeom prst="ellipse">
            <a:avLst/>
          </a:prstGeom>
          <a:solidFill>
            <a:schemeClr val="accent1"/>
          </a:solidFill>
          <a:ln w="12700">
            <a:solidFill>
              <a:schemeClr val="accent1"/>
            </a:solidFill>
            <a:prstDash val="solid"/>
          </a:ln>
        </p:spPr>
        <p:txBody>
          <a:bodyPr/>
          <a:lstStyle/>
          <a:p>
            <a:endParaRPr lang="en-US"/>
          </a:p>
        </p:txBody>
      </p:sp>
      <p:sp>
        <p:nvSpPr>
          <p:cNvPr id="16" name="step num 1"/>
          <p:cNvSpPr txBox="1"/>
          <p:nvPr/>
        </p:nvSpPr>
        <p:spPr>
          <a:xfrm>
            <a:off x="2743200" y="3273552"/>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17" name="step text 1"/>
          <p:cNvSpPr txBox="1"/>
          <p:nvPr/>
        </p:nvSpPr>
        <p:spPr>
          <a:xfrm>
            <a:off x="2395728" y="3703320"/>
            <a:ext cx="1060704" cy="777240"/>
          </a:xfrm>
          <a:prstGeom prst="rect">
            <a:avLst/>
          </a:prstGeom>
          <a:noFill/>
          <a:ln/>
        </p:spPr>
        <p:txBody>
          <a:bodyPr wrap="square" lIns="0" tIns="0" rIns="0" bIns="0" rtlCol="0" anchor="t"/>
          <a:lstStyle/>
          <a:p>
            <a:pPr marL="0" indent="0" algn="ctr">
              <a:buNone/>
            </a:pPr>
            <a:r>
              <a:rPr lang="en-US" sz="1100" dirty="0">
                <a:solidFill>
                  <a:schemeClr val="tx1"/>
                </a:solidFill>
              </a:rPr>
              <a:t>Convert downcast only (in CNV)</a:t>
            </a:r>
            <a:endParaRPr lang="en-US" sz="1100" dirty="0"/>
          </a:p>
        </p:txBody>
      </p:sp>
      <p:sp>
        <p:nvSpPr>
          <p:cNvPr id="18" name="Shape 16"/>
          <p:cNvSpPr/>
          <p:nvPr/>
        </p:nvSpPr>
        <p:spPr>
          <a:xfrm>
            <a:off x="3621024" y="3200400"/>
            <a:ext cx="1188720" cy="1325880"/>
          </a:xfrm>
          <a:prstGeom prst="roundRect">
            <a:avLst>
              <a:gd name="adj" fmla="val 7692"/>
            </a:avLst>
          </a:prstGeom>
          <a:solidFill>
            <a:schemeClr val="bg2"/>
          </a:solidFill>
          <a:ln w="12700">
            <a:solidFill>
              <a:schemeClr val="bg2"/>
            </a:solidFill>
            <a:prstDash val="solid"/>
          </a:ln>
        </p:spPr>
        <p:txBody>
          <a:bodyPr/>
          <a:lstStyle/>
          <a:p>
            <a:endParaRPr lang="en-US"/>
          </a:p>
        </p:txBody>
      </p:sp>
      <p:sp>
        <p:nvSpPr>
          <p:cNvPr id="19" name="step badge 2"/>
          <p:cNvSpPr/>
          <p:nvPr/>
        </p:nvSpPr>
        <p:spPr>
          <a:xfrm>
            <a:off x="4032504" y="3273552"/>
            <a:ext cx="365760" cy="365760"/>
          </a:xfrm>
          <a:prstGeom prst="ellipse">
            <a:avLst/>
          </a:prstGeom>
          <a:solidFill>
            <a:schemeClr val="accent1"/>
          </a:solidFill>
          <a:ln w="12700">
            <a:solidFill>
              <a:schemeClr val="accent1"/>
            </a:solidFill>
            <a:prstDash val="solid"/>
          </a:ln>
        </p:spPr>
        <p:txBody>
          <a:bodyPr/>
          <a:lstStyle/>
          <a:p>
            <a:endParaRPr lang="en-US"/>
          </a:p>
        </p:txBody>
      </p:sp>
      <p:sp>
        <p:nvSpPr>
          <p:cNvPr id="20" name="step num 2"/>
          <p:cNvSpPr txBox="1"/>
          <p:nvPr/>
        </p:nvSpPr>
        <p:spPr>
          <a:xfrm>
            <a:off x="4032504" y="3273552"/>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21" name="step text 2"/>
          <p:cNvSpPr txBox="1"/>
          <p:nvPr/>
        </p:nvSpPr>
        <p:spPr>
          <a:xfrm>
            <a:off x="3685032" y="3703320"/>
            <a:ext cx="1060704" cy="777240"/>
          </a:xfrm>
          <a:prstGeom prst="rect">
            <a:avLst/>
          </a:prstGeom>
          <a:noFill/>
          <a:ln/>
        </p:spPr>
        <p:txBody>
          <a:bodyPr wrap="square" lIns="0" tIns="0" rIns="0" bIns="0" rtlCol="0" anchor="t"/>
          <a:lstStyle/>
          <a:p>
            <a:pPr marL="0" indent="0" algn="ctr">
              <a:buNone/>
            </a:pPr>
            <a:r>
              <a:rPr lang="en-US" sz="1100" dirty="0">
                <a:solidFill>
                  <a:schemeClr val="tx1"/>
                </a:solidFill>
              </a:rPr>
              <a:t>Check that downcast kept enough data</a:t>
            </a:r>
            <a:endParaRPr lang="en-US" sz="1100" dirty="0"/>
          </a:p>
        </p:txBody>
      </p:sp>
      <p:sp>
        <p:nvSpPr>
          <p:cNvPr id="22" name="Shape 20"/>
          <p:cNvSpPr/>
          <p:nvPr/>
        </p:nvSpPr>
        <p:spPr>
          <a:xfrm>
            <a:off x="4910328" y="3200400"/>
            <a:ext cx="1188720" cy="1325880"/>
          </a:xfrm>
          <a:prstGeom prst="roundRect">
            <a:avLst>
              <a:gd name="adj" fmla="val 7692"/>
            </a:avLst>
          </a:prstGeom>
          <a:solidFill>
            <a:schemeClr val="bg2"/>
          </a:solidFill>
          <a:ln w="12700">
            <a:solidFill>
              <a:schemeClr val="bg2"/>
            </a:solidFill>
            <a:prstDash val="solid"/>
          </a:ln>
        </p:spPr>
        <p:txBody>
          <a:bodyPr/>
          <a:lstStyle/>
          <a:p>
            <a:endParaRPr lang="en-US"/>
          </a:p>
        </p:txBody>
      </p:sp>
      <p:sp>
        <p:nvSpPr>
          <p:cNvPr id="23" name="step badge 3"/>
          <p:cNvSpPr/>
          <p:nvPr/>
        </p:nvSpPr>
        <p:spPr>
          <a:xfrm>
            <a:off x="5321808" y="3273552"/>
            <a:ext cx="365760" cy="365760"/>
          </a:xfrm>
          <a:prstGeom prst="ellipse">
            <a:avLst/>
          </a:prstGeom>
          <a:solidFill>
            <a:schemeClr val="accent1"/>
          </a:solidFill>
          <a:ln w="12700">
            <a:solidFill>
              <a:schemeClr val="accent1"/>
            </a:solidFill>
            <a:prstDash val="solid"/>
          </a:ln>
        </p:spPr>
        <p:txBody>
          <a:bodyPr/>
          <a:lstStyle/>
          <a:p>
            <a:endParaRPr lang="en-US"/>
          </a:p>
        </p:txBody>
      </p:sp>
      <p:sp>
        <p:nvSpPr>
          <p:cNvPr id="24" name="step num 3"/>
          <p:cNvSpPr txBox="1"/>
          <p:nvPr/>
        </p:nvSpPr>
        <p:spPr>
          <a:xfrm>
            <a:off x="5321808" y="3273552"/>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25" name="step text 3"/>
          <p:cNvSpPr txBox="1"/>
          <p:nvPr/>
        </p:nvSpPr>
        <p:spPr>
          <a:xfrm>
            <a:off x="4974336" y="3703320"/>
            <a:ext cx="1060704" cy="777240"/>
          </a:xfrm>
          <a:prstGeom prst="rect">
            <a:avLst/>
          </a:prstGeom>
          <a:noFill/>
          <a:ln/>
        </p:spPr>
        <p:txBody>
          <a:bodyPr wrap="square" lIns="0" tIns="0" rIns="0" bIns="0" rtlCol="0" anchor="t"/>
          <a:lstStyle/>
          <a:p>
            <a:pPr marL="0" indent="0" algn="ctr">
              <a:buNone/>
            </a:pPr>
            <a:r>
              <a:rPr lang="en-US" sz="1100" dirty="0">
                <a:solidFill>
                  <a:schemeClr val="tx1"/>
                </a:solidFill>
              </a:rPr>
              <a:t>Re-convert short casts in UPDOWN</a:t>
            </a:r>
            <a:endParaRPr lang="en-US" sz="1100" dirty="0"/>
          </a:p>
        </p:txBody>
      </p:sp>
      <p:sp>
        <p:nvSpPr>
          <p:cNvPr id="26" name="Shape 24"/>
          <p:cNvSpPr/>
          <p:nvPr/>
        </p:nvSpPr>
        <p:spPr>
          <a:xfrm>
            <a:off x="6199632" y="3200400"/>
            <a:ext cx="1188720" cy="1325880"/>
          </a:xfrm>
          <a:prstGeom prst="roundRect">
            <a:avLst>
              <a:gd name="adj" fmla="val 7692"/>
            </a:avLst>
          </a:prstGeom>
          <a:solidFill>
            <a:schemeClr val="bg2"/>
          </a:solidFill>
          <a:ln w="12700">
            <a:solidFill>
              <a:schemeClr val="bg2"/>
            </a:solidFill>
            <a:prstDash val="solid"/>
          </a:ln>
        </p:spPr>
        <p:txBody>
          <a:bodyPr/>
          <a:lstStyle/>
          <a:p>
            <a:endParaRPr lang="en-US"/>
          </a:p>
        </p:txBody>
      </p:sp>
      <p:sp>
        <p:nvSpPr>
          <p:cNvPr id="27" name="step badge 4"/>
          <p:cNvSpPr/>
          <p:nvPr/>
        </p:nvSpPr>
        <p:spPr>
          <a:xfrm>
            <a:off x="6611112" y="3273552"/>
            <a:ext cx="365760" cy="365760"/>
          </a:xfrm>
          <a:prstGeom prst="ellipse">
            <a:avLst/>
          </a:prstGeom>
          <a:solidFill>
            <a:schemeClr val="accent1"/>
          </a:solidFill>
          <a:ln w="12700">
            <a:solidFill>
              <a:schemeClr val="accent1"/>
            </a:solidFill>
            <a:prstDash val="solid"/>
          </a:ln>
        </p:spPr>
        <p:txBody>
          <a:bodyPr/>
          <a:lstStyle/>
          <a:p>
            <a:endParaRPr lang="en-US"/>
          </a:p>
        </p:txBody>
      </p:sp>
      <p:sp>
        <p:nvSpPr>
          <p:cNvPr id="28" name="step num 4"/>
          <p:cNvSpPr txBox="1"/>
          <p:nvPr/>
        </p:nvSpPr>
        <p:spPr>
          <a:xfrm>
            <a:off x="6611112" y="3273552"/>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4</a:t>
            </a:r>
            <a:endParaRPr lang="en-US" sz="1300" dirty="0"/>
          </a:p>
        </p:txBody>
      </p:sp>
      <p:sp>
        <p:nvSpPr>
          <p:cNvPr id="29" name="step text 4"/>
          <p:cNvSpPr txBox="1"/>
          <p:nvPr/>
        </p:nvSpPr>
        <p:spPr>
          <a:xfrm>
            <a:off x="6263640" y="3703320"/>
            <a:ext cx="1060704" cy="777240"/>
          </a:xfrm>
          <a:prstGeom prst="rect">
            <a:avLst/>
          </a:prstGeom>
          <a:noFill/>
          <a:ln/>
        </p:spPr>
        <p:txBody>
          <a:bodyPr wrap="square" lIns="0" tIns="0" rIns="0" bIns="0" rtlCol="0" anchor="t"/>
          <a:lstStyle/>
          <a:p>
            <a:pPr marL="0" indent="0" algn="ctr">
              <a:buNone/>
            </a:pPr>
            <a:r>
              <a:rPr lang="en-US" sz="1100" dirty="0">
                <a:solidFill>
                  <a:schemeClr val="tx1"/>
                </a:solidFill>
              </a:rPr>
              <a:t>Run TC and O experiments; review plots</a:t>
            </a:r>
            <a:endParaRPr lang="en-US" sz="1100" dirty="0"/>
          </a:p>
        </p:txBody>
      </p:sp>
      <p:sp>
        <p:nvSpPr>
          <p:cNvPr id="30" name="Shape 28"/>
          <p:cNvSpPr/>
          <p:nvPr/>
        </p:nvSpPr>
        <p:spPr>
          <a:xfrm>
            <a:off x="7488936" y="3200400"/>
            <a:ext cx="1188720" cy="1325880"/>
          </a:xfrm>
          <a:prstGeom prst="roundRect">
            <a:avLst>
              <a:gd name="adj" fmla="val 7692"/>
            </a:avLst>
          </a:prstGeom>
          <a:solidFill>
            <a:schemeClr val="bg2"/>
          </a:solidFill>
          <a:ln w="12700">
            <a:solidFill>
              <a:schemeClr val="bg2"/>
            </a:solidFill>
            <a:prstDash val="solid"/>
          </a:ln>
        </p:spPr>
        <p:txBody>
          <a:bodyPr/>
          <a:lstStyle/>
          <a:p>
            <a:endParaRPr lang="en-US"/>
          </a:p>
        </p:txBody>
      </p:sp>
      <p:sp>
        <p:nvSpPr>
          <p:cNvPr id="31" name="step badge 5"/>
          <p:cNvSpPr/>
          <p:nvPr/>
        </p:nvSpPr>
        <p:spPr>
          <a:xfrm>
            <a:off x="7900416" y="3273552"/>
            <a:ext cx="365760" cy="365760"/>
          </a:xfrm>
          <a:prstGeom prst="ellipse">
            <a:avLst/>
          </a:prstGeom>
          <a:solidFill>
            <a:schemeClr val="accent1"/>
          </a:solidFill>
          <a:ln w="12700">
            <a:solidFill>
              <a:schemeClr val="accent1"/>
            </a:solidFill>
            <a:prstDash val="solid"/>
          </a:ln>
        </p:spPr>
        <p:txBody>
          <a:bodyPr/>
          <a:lstStyle/>
          <a:p>
            <a:endParaRPr lang="en-US"/>
          </a:p>
        </p:txBody>
      </p:sp>
      <p:sp>
        <p:nvSpPr>
          <p:cNvPr id="32" name="step num 5"/>
          <p:cNvSpPr txBox="1"/>
          <p:nvPr/>
        </p:nvSpPr>
        <p:spPr>
          <a:xfrm>
            <a:off x="7900416" y="3273552"/>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5</a:t>
            </a:r>
            <a:endParaRPr lang="en-US" sz="1300" dirty="0"/>
          </a:p>
        </p:txBody>
      </p:sp>
      <p:sp>
        <p:nvSpPr>
          <p:cNvPr id="33" name="step text 5"/>
          <p:cNvSpPr txBox="1"/>
          <p:nvPr/>
        </p:nvSpPr>
        <p:spPr>
          <a:xfrm>
            <a:off x="7552944" y="3703320"/>
            <a:ext cx="1060704" cy="777240"/>
          </a:xfrm>
          <a:prstGeom prst="rect">
            <a:avLst/>
          </a:prstGeom>
          <a:noFill/>
          <a:ln/>
        </p:spPr>
        <p:txBody>
          <a:bodyPr wrap="square" lIns="0" tIns="0" rIns="0" bIns="0" rtlCol="0" anchor="t"/>
          <a:lstStyle/>
          <a:p>
            <a:pPr marL="0" indent="0" algn="ctr">
              <a:buNone/>
            </a:pPr>
            <a:r>
              <a:rPr lang="en-US" sz="1100" dirty="0">
                <a:solidFill>
                  <a:schemeClr val="tx1"/>
                </a:solidFill>
              </a:rPr>
              <a:t>Final conversion with chosen values</a:t>
            </a:r>
            <a:endParaRPr lang="en-US" sz="1100" dirty="0"/>
          </a:p>
        </p:txBody>
      </p:sp>
      <p:sp>
        <p:nvSpPr>
          <p:cNvPr id="34"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594360"/>
          </a:xfrm>
          <a:prstGeom prst="rect">
            <a:avLst/>
          </a:prstGeom>
          <a:noFill/>
          <a:ln/>
        </p:spPr>
        <p:txBody>
          <a:bodyPr wrap="square" lIns="0" tIns="0" rIns="0" bIns="0" rtlCol="0" anchor="ctr"/>
          <a:lstStyle/>
          <a:p>
            <a:pPr marL="0" indent="0" algn="l">
              <a:buNone/>
            </a:pPr>
            <a:r>
              <a:rPr lang="en-US" sz="3200" b="1" dirty="0">
                <a:solidFill>
                  <a:schemeClr val="tx1"/>
                </a:solidFill>
              </a:rPr>
              <a:t>Prepare the Cruise Folder</a:t>
            </a:r>
            <a:endParaRPr lang="en-US" sz="3200" dirty="0"/>
          </a:p>
        </p:txBody>
      </p:sp>
      <p:sp>
        <p:nvSpPr>
          <p:cNvPr id="3" name="tagline"/>
          <p:cNvSpPr txBox="1"/>
          <p:nvPr/>
        </p:nvSpPr>
        <p:spPr>
          <a:xfrm>
            <a:off x="457200" y="896112"/>
            <a:ext cx="8229600" cy="292608"/>
          </a:xfrm>
          <a:prstGeom prst="rect">
            <a:avLst/>
          </a:prstGeom>
          <a:noFill/>
          <a:ln/>
        </p:spPr>
        <p:txBody>
          <a:bodyPr wrap="square" lIns="0" tIns="0" rIns="0" bIns="0" rtlCol="0" anchor="ctr"/>
          <a:lstStyle/>
          <a:p>
            <a:pPr marL="0" indent="0">
              <a:buNone/>
            </a:pPr>
            <a:r>
              <a:rPr lang="en-US" sz="1500" i="1" dirty="0">
                <a:solidFill>
                  <a:schemeClr val="accent1"/>
                </a:solidFill>
              </a:rPr>
              <a:t>Same first steps for both options</a:t>
            </a:r>
            <a:endParaRPr lang="en-US" sz="1500" dirty="0"/>
          </a:p>
        </p:txBody>
      </p:sp>
      <p:sp>
        <p:nvSpPr>
          <p:cNvPr id="4" name="bullets"/>
          <p:cNvSpPr txBox="1"/>
          <p:nvPr/>
        </p:nvSpPr>
        <p:spPr>
          <a:xfrm>
            <a:off x="457200" y="1417320"/>
            <a:ext cx="4572000" cy="3108960"/>
          </a:xfrm>
          <a:prstGeom prst="rect">
            <a:avLst/>
          </a:prstGeom>
          <a:noFill/>
          <a:ln/>
        </p:spPr>
        <p:txBody>
          <a:bodyPr wrap="square" lIns="0" tIns="0" rIns="0" bIns="0" rtlCol="0" anchor="t"/>
          <a:lstStyle/>
          <a:p>
            <a:pPr marL="342900" indent="-342900">
              <a:spcAft>
                <a:spcPts val="700"/>
              </a:spcAft>
              <a:buSzPct val="100000"/>
              <a:buChar char="•"/>
            </a:pPr>
            <a:r>
              <a:rPr lang="en-US" sz="1500" dirty="0">
                <a:solidFill>
                  <a:schemeClr val="tx1"/>
                </a:solidFill>
              </a:rPr>
              <a:t>Run init_cruise_folder.sh in a bash terminal from the toolkit directory</a:t>
            </a:r>
            <a:endParaRPr lang="en-US" sz="1500" dirty="0"/>
          </a:p>
          <a:p>
            <a:pPr marL="342900" indent="-342900">
              <a:spcAft>
                <a:spcPts val="700"/>
              </a:spcAft>
              <a:buSzPct val="100000"/>
              <a:buChar char="•"/>
            </a:pPr>
            <a:r>
              <a:rPr lang="en-US" sz="1500" dirty="0">
                <a:solidFill>
                  <a:schemeClr val="tx1"/>
                </a:solidFill>
              </a:rPr>
              <a:t>Copy the original CTD cast files into CNV</a:t>
            </a:r>
            <a:endParaRPr lang="en-US" sz="1500" dirty="0"/>
          </a:p>
          <a:p>
            <a:pPr marL="342900" indent="-342900">
              <a:spcAft>
                <a:spcPts val="700"/>
              </a:spcAft>
              <a:buSzPct val="100000"/>
              <a:buChar char="•"/>
            </a:pPr>
            <a:r>
              <a:rPr lang="en-US" sz="1500" dirty="0">
                <a:solidFill>
                  <a:schemeClr val="tx1"/>
                </a:solidFill>
              </a:rPr>
              <a:t>Check the field notes or data sheet; rename files if needed</a:t>
            </a:r>
            <a:endParaRPr lang="en-US" sz="1500" dirty="0"/>
          </a:p>
          <a:p>
            <a:pPr marL="342900" indent="-342900">
              <a:spcAft>
                <a:spcPts val="700"/>
              </a:spcAft>
              <a:buSzPct val="100000"/>
              <a:buChar char="•"/>
            </a:pPr>
            <a:r>
              <a:rPr lang="en-US" sz="1500" dirty="0">
                <a:solidFill>
                  <a:schemeClr val="tx1"/>
                </a:solidFill>
              </a:rPr>
              <a:t>Cast number is optional, needed only to separate casts at one station</a:t>
            </a:r>
            <a:endParaRPr lang="en-US" sz="1500" dirty="0"/>
          </a:p>
        </p:txBody>
      </p:sp>
      <p:sp>
        <p:nvSpPr>
          <p:cNvPr id="5" name="Shape 3"/>
          <p:cNvSpPr/>
          <p:nvPr/>
        </p:nvSpPr>
        <p:spPr>
          <a:xfrm>
            <a:off x="5303520" y="1417320"/>
            <a:ext cx="3383280" cy="1097280"/>
          </a:xfrm>
          <a:prstGeom prst="roundRect">
            <a:avLst>
              <a:gd name="adj" fmla="val 8333"/>
            </a:avLst>
          </a:prstGeom>
          <a:solidFill>
            <a:schemeClr val="accent1"/>
          </a:solidFill>
          <a:ln w="12700">
            <a:solidFill>
              <a:schemeClr val="accent1"/>
            </a:solidFill>
            <a:prstDash val="solid"/>
          </a:ln>
        </p:spPr>
        <p:txBody>
          <a:bodyPr/>
          <a:lstStyle/>
          <a:p>
            <a:endParaRPr lang="en-US"/>
          </a:p>
        </p:txBody>
      </p:sp>
      <p:sp>
        <p:nvSpPr>
          <p:cNvPr id="6" name="pattern label"/>
          <p:cNvSpPr txBox="1"/>
          <p:nvPr/>
        </p:nvSpPr>
        <p:spPr>
          <a:xfrm>
            <a:off x="5440680" y="1481328"/>
            <a:ext cx="3108960" cy="274320"/>
          </a:xfrm>
          <a:prstGeom prst="rect">
            <a:avLst/>
          </a:prstGeom>
          <a:noFill/>
          <a:ln/>
        </p:spPr>
        <p:txBody>
          <a:bodyPr wrap="square" lIns="0" tIns="0" rIns="0" bIns="0" rtlCol="0" anchor="ctr"/>
          <a:lstStyle/>
          <a:p>
            <a:pPr marL="0" indent="0">
              <a:buNone/>
            </a:pPr>
            <a:r>
              <a:rPr lang="en-US" sz="1200" b="1" dirty="0">
                <a:solidFill>
                  <a:schemeClr val="bg1"/>
                </a:solidFill>
              </a:rPr>
              <a:t>File name pattern</a:t>
            </a:r>
            <a:endParaRPr lang="en-US" sz="1200" dirty="0"/>
          </a:p>
        </p:txBody>
      </p:sp>
      <p:sp>
        <p:nvSpPr>
          <p:cNvPr id="7" name="pattern"/>
          <p:cNvSpPr txBox="1"/>
          <p:nvPr/>
        </p:nvSpPr>
        <p:spPr>
          <a:xfrm>
            <a:off x="5440680" y="1783080"/>
            <a:ext cx="3108960" cy="640080"/>
          </a:xfrm>
          <a:prstGeom prst="rect">
            <a:avLst/>
          </a:prstGeom>
          <a:noFill/>
          <a:ln/>
        </p:spPr>
        <p:txBody>
          <a:bodyPr wrap="square" lIns="0" tIns="0" rIns="0" bIns="0" rtlCol="0" anchor="t"/>
          <a:lstStyle/>
          <a:p>
            <a:pPr marL="0" indent="0">
              <a:buNone/>
            </a:pPr>
            <a:r>
              <a:rPr lang="en-US" sz="1100" dirty="0">
                <a:solidFill>
                  <a:schemeClr val="bg1"/>
                </a:solidFill>
                <a:latin typeface="Consolas" pitchFamily="34" charset="0"/>
                <a:ea typeface="Consolas" pitchFamily="34" charset="-122"/>
                <a:cs typeface="Consolas" pitchFamily="34" charset="-120"/>
              </a:rPr>
              <a:t>&lt;cruise_name&gt;_Stn.&lt;station_name&gt;</a:t>
            </a:r>
            <a:endParaRPr lang="en-US" sz="1100" dirty="0"/>
          </a:p>
          <a:p>
            <a:pPr marL="0" indent="0">
              <a:buNone/>
            </a:pPr>
            <a:r>
              <a:rPr lang="en-US" sz="1100" dirty="0">
                <a:solidFill>
                  <a:schemeClr val="bg1"/>
                </a:solidFill>
                <a:latin typeface="Consolas" pitchFamily="34" charset="0"/>
                <a:ea typeface="Consolas" pitchFamily="34" charset="-122"/>
                <a:cs typeface="Consolas" pitchFamily="34" charset="-120"/>
              </a:rPr>
              <a:t>[_running_cast_number]</a:t>
            </a:r>
            <a:endParaRPr lang="en-US" sz="1100" dirty="0"/>
          </a:p>
        </p:txBody>
      </p:sp>
      <p:sp>
        <p:nvSpPr>
          <p:cNvPr id="8" name="Shape 6"/>
          <p:cNvSpPr/>
          <p:nvPr/>
        </p:nvSpPr>
        <p:spPr>
          <a:xfrm>
            <a:off x="5303520" y="2697480"/>
            <a:ext cx="3383280" cy="1828800"/>
          </a:xfrm>
          <a:prstGeom prst="roundRect">
            <a:avLst>
              <a:gd name="adj" fmla="val 5000"/>
            </a:avLst>
          </a:prstGeom>
          <a:solidFill>
            <a:schemeClr val="bg2"/>
          </a:solidFill>
          <a:ln w="12700">
            <a:solidFill>
              <a:schemeClr val="bg2"/>
            </a:solidFill>
            <a:prstDash val="solid"/>
          </a:ln>
        </p:spPr>
        <p:txBody>
          <a:bodyPr/>
          <a:lstStyle/>
          <a:p>
            <a:endParaRPr lang="en-US"/>
          </a:p>
        </p:txBody>
      </p:sp>
      <p:sp>
        <p:nvSpPr>
          <p:cNvPr id="9" name="tree label"/>
          <p:cNvSpPr txBox="1"/>
          <p:nvPr/>
        </p:nvSpPr>
        <p:spPr>
          <a:xfrm>
            <a:off x="5440680" y="2761488"/>
            <a:ext cx="3108960" cy="274320"/>
          </a:xfrm>
          <a:prstGeom prst="rect">
            <a:avLst/>
          </a:prstGeom>
          <a:noFill/>
          <a:ln/>
        </p:spPr>
        <p:txBody>
          <a:bodyPr wrap="square" lIns="0" tIns="0" rIns="0" bIns="0" rtlCol="0" anchor="ctr"/>
          <a:lstStyle/>
          <a:p>
            <a:pPr marL="0" indent="0">
              <a:buNone/>
            </a:pPr>
            <a:r>
              <a:rPr lang="en-US" sz="1200" b="1" dirty="0">
                <a:solidFill>
                  <a:schemeClr val="tx1"/>
                </a:solidFill>
              </a:rPr>
              <a:t>Folders used in the workflow</a:t>
            </a:r>
            <a:endParaRPr lang="en-US" sz="1200" dirty="0"/>
          </a:p>
        </p:txBody>
      </p:sp>
      <p:sp>
        <p:nvSpPr>
          <p:cNvPr id="10" name="tree"/>
          <p:cNvSpPr txBox="1"/>
          <p:nvPr/>
        </p:nvSpPr>
        <p:spPr>
          <a:xfrm>
            <a:off x="5440680" y="3108960"/>
            <a:ext cx="3108960" cy="1280160"/>
          </a:xfrm>
          <a:prstGeom prst="rect">
            <a:avLst/>
          </a:prstGeom>
          <a:noFill/>
          <a:ln/>
        </p:spPr>
        <p:txBody>
          <a:bodyPr wrap="square" lIns="0" tIns="0" rIns="0" bIns="0" rtlCol="0" anchor="t"/>
          <a:lstStyle/>
          <a:p>
            <a:pPr marL="0" indent="0">
              <a:spcAft>
                <a:spcPts val="600"/>
              </a:spcAft>
              <a:buNone/>
            </a:pPr>
            <a:r>
              <a:rPr lang="en-US" sz="1000" dirty="0">
                <a:solidFill>
                  <a:schemeClr val="accent6"/>
                </a:solidFill>
                <a:latin typeface="Consolas" pitchFamily="34" charset="0"/>
                <a:ea typeface="Consolas" pitchFamily="34" charset="-122"/>
                <a:cs typeface="Consolas" pitchFamily="34" charset="-120"/>
              </a:rPr>
              <a:t>CNV/       downcast conversion</a:t>
            </a:r>
            <a:endParaRPr lang="en-US" sz="1000" dirty="0"/>
          </a:p>
          <a:p>
            <a:pPr marL="0" indent="0">
              <a:spcAft>
                <a:spcPts val="600"/>
              </a:spcAft>
              <a:buNone/>
            </a:pPr>
            <a:r>
              <a:rPr lang="en-US" sz="1000" dirty="0">
                <a:solidFill>
                  <a:schemeClr val="accent6"/>
                </a:solidFill>
                <a:latin typeface="Consolas" pitchFamily="34" charset="0"/>
                <a:ea typeface="Consolas" pitchFamily="34" charset="-122"/>
                <a:cs typeface="Consolas" pitchFamily="34" charset="-120"/>
              </a:rPr>
              <a:t>UPDOWN/    down + upcast</a:t>
            </a:r>
            <a:endParaRPr lang="en-US" sz="1000" dirty="0"/>
          </a:p>
          <a:p>
            <a:pPr marL="0" indent="0">
              <a:spcAft>
                <a:spcPts val="600"/>
              </a:spcAft>
              <a:buNone/>
            </a:pPr>
            <a:r>
              <a:rPr lang="en-US" sz="1000" dirty="0">
                <a:solidFill>
                  <a:schemeClr val="accent6"/>
                </a:solidFill>
                <a:latin typeface="Consolas" pitchFamily="34" charset="0"/>
                <a:ea typeface="Consolas" pitchFamily="34" charset="-122"/>
                <a:cs typeface="Consolas" pitchFamily="34" charset="-120"/>
              </a:rPr>
              <a:t>ALIGN_TC/OUT/  conductivity alignment tests</a:t>
            </a:r>
            <a:endParaRPr lang="en-US" sz="1000" dirty="0"/>
          </a:p>
          <a:p>
            <a:pPr>
              <a:spcAft>
                <a:spcPts val="600"/>
              </a:spcAft>
            </a:pPr>
            <a:r>
              <a:rPr lang="en-US" sz="1000" dirty="0">
                <a:solidFill>
                  <a:schemeClr val="accent6"/>
                </a:solidFill>
                <a:latin typeface="Consolas" pitchFamily="34" charset="0"/>
                <a:ea typeface="Consolas" pitchFamily="34" charset="-122"/>
                <a:cs typeface="Consolas" pitchFamily="34" charset="-120"/>
              </a:rPr>
              <a:t>ALIGN_O/OUT/   oxygen alignment tests</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594360"/>
          </a:xfrm>
          <a:prstGeom prst="rect">
            <a:avLst/>
          </a:prstGeom>
          <a:noFill/>
          <a:ln/>
        </p:spPr>
        <p:txBody>
          <a:bodyPr wrap="square" lIns="0" tIns="0" rIns="0" bIns="0" rtlCol="0" anchor="ctr"/>
          <a:lstStyle/>
          <a:p>
            <a:pPr marL="0" indent="0" algn="l">
              <a:buNone/>
            </a:pPr>
            <a:r>
              <a:rPr lang="en-US" sz="3200" b="1" dirty="0">
                <a:solidFill>
                  <a:schemeClr val="tx1"/>
                </a:solidFill>
              </a:rPr>
              <a:t>Check the Downcast Detection</a:t>
            </a:r>
            <a:endParaRPr lang="en-US" sz="3200" dirty="0"/>
          </a:p>
        </p:txBody>
      </p:sp>
      <p:sp>
        <p:nvSpPr>
          <p:cNvPr id="3" name="tagline"/>
          <p:cNvSpPr txBox="1"/>
          <p:nvPr/>
        </p:nvSpPr>
        <p:spPr>
          <a:xfrm>
            <a:off x="457200" y="896112"/>
            <a:ext cx="8229600" cy="292608"/>
          </a:xfrm>
          <a:prstGeom prst="rect">
            <a:avLst/>
          </a:prstGeom>
          <a:noFill/>
          <a:ln/>
        </p:spPr>
        <p:txBody>
          <a:bodyPr wrap="square" lIns="0" tIns="0" rIns="0" bIns="0" rtlCol="0" anchor="ctr"/>
          <a:lstStyle/>
          <a:p>
            <a:pPr marL="0" indent="0">
              <a:buNone/>
            </a:pPr>
            <a:r>
              <a:rPr lang="en-US" sz="1500" i="1" dirty="0">
                <a:solidFill>
                  <a:schemeClr val="accent1"/>
                </a:solidFill>
              </a:rPr>
              <a:t>Find casts where Sea-Bird kept too little data</a:t>
            </a:r>
            <a:endParaRPr lang="en-US" sz="1500" dirty="0"/>
          </a:p>
        </p:txBody>
      </p:sp>
      <p:sp>
        <p:nvSpPr>
          <p:cNvPr id="4" name="Shape 2"/>
          <p:cNvSpPr/>
          <p:nvPr/>
        </p:nvSpPr>
        <p:spPr>
          <a:xfrm>
            <a:off x="457200" y="1371600"/>
            <a:ext cx="4023360" cy="2743200"/>
          </a:xfrm>
          <a:prstGeom prst="roundRect">
            <a:avLst>
              <a:gd name="adj" fmla="val 3333"/>
            </a:avLst>
          </a:prstGeom>
          <a:solidFill>
            <a:schemeClr val="bg2"/>
          </a:solidFill>
          <a:ln w="12700">
            <a:solidFill>
              <a:schemeClr val="bg2"/>
            </a:solidFill>
            <a:prstDash val="solid"/>
          </a:ln>
        </p:spPr>
        <p:txBody>
          <a:bodyPr/>
          <a:lstStyle/>
          <a:p>
            <a:endParaRPr lang="en-US"/>
          </a:p>
        </p:txBody>
      </p:sp>
      <p:sp>
        <p:nvSpPr>
          <p:cNvPr id="5" name="path title 0"/>
          <p:cNvSpPr txBox="1"/>
          <p:nvPr/>
        </p:nvSpPr>
        <p:spPr>
          <a:xfrm>
            <a:off x="640080" y="1463040"/>
            <a:ext cx="3657600" cy="365760"/>
          </a:xfrm>
          <a:prstGeom prst="rect">
            <a:avLst/>
          </a:prstGeom>
          <a:noFill/>
          <a:ln/>
        </p:spPr>
        <p:txBody>
          <a:bodyPr wrap="square" lIns="0" tIns="0" rIns="0" bIns="0" rtlCol="0" anchor="ctr"/>
          <a:lstStyle/>
          <a:p>
            <a:pPr marL="0" indent="0">
              <a:buNone/>
            </a:pPr>
            <a:r>
              <a:rPr lang="en-US" sz="1800" b="1" dirty="0">
                <a:solidFill>
                  <a:schemeClr val="accent1"/>
                </a:solidFill>
              </a:rPr>
              <a:t>Pump status available</a:t>
            </a:r>
            <a:endParaRPr lang="en-US" sz="1800" dirty="0"/>
          </a:p>
        </p:txBody>
      </p:sp>
      <p:sp>
        <p:nvSpPr>
          <p:cNvPr id="6" name="Shape 4"/>
          <p:cNvSpPr/>
          <p:nvPr/>
        </p:nvSpPr>
        <p:spPr>
          <a:xfrm>
            <a:off x="640080" y="1920240"/>
            <a:ext cx="3657600" cy="457200"/>
          </a:xfrm>
          <a:prstGeom prst="roundRect">
            <a:avLst>
              <a:gd name="adj" fmla="val 16000"/>
            </a:avLst>
          </a:prstGeom>
          <a:solidFill>
            <a:schemeClr val="tx1"/>
          </a:solidFill>
          <a:ln w="12700">
            <a:solidFill>
              <a:schemeClr val="tx1"/>
            </a:solidFill>
            <a:prstDash val="solid"/>
          </a:ln>
        </p:spPr>
        <p:txBody>
          <a:bodyPr/>
          <a:lstStyle/>
          <a:p>
            <a:endParaRPr lang="en-US"/>
          </a:p>
        </p:txBody>
      </p:sp>
      <p:sp>
        <p:nvSpPr>
          <p:cNvPr id="7" name="command"/>
          <p:cNvSpPr txBox="1"/>
          <p:nvPr/>
        </p:nvSpPr>
        <p:spPr>
          <a:xfrm>
            <a:off x="749808" y="1920240"/>
            <a:ext cx="3438144" cy="457200"/>
          </a:xfrm>
          <a:prstGeom prst="rect">
            <a:avLst/>
          </a:prstGeom>
          <a:noFill/>
          <a:ln/>
        </p:spPr>
        <p:txBody>
          <a:bodyPr wrap="square" lIns="0" tIns="0" rIns="0" bIns="0" rtlCol="0" anchor="ctr"/>
          <a:lstStyle/>
          <a:p>
            <a:pPr marL="0" indent="0">
              <a:buNone/>
            </a:pPr>
            <a:r>
              <a:rPr lang="en-US" sz="950" dirty="0">
                <a:solidFill>
                  <a:schemeClr val="bg1"/>
                </a:solidFill>
                <a:latin typeface="Consolas" pitchFamily="34" charset="0"/>
                <a:ea typeface="Consolas" pitchFamily="34" charset="-122"/>
                <a:cs typeface="Consolas" pitchFamily="34" charset="-120"/>
              </a:rPr>
              <a:t>python pump_status_report.py &lt;path&gt;</a:t>
            </a:r>
            <a:endParaRPr lang="en-US" sz="950" dirty="0"/>
          </a:p>
        </p:txBody>
      </p:sp>
      <p:sp>
        <p:nvSpPr>
          <p:cNvPr id="8" name="bullets"/>
          <p:cNvSpPr txBox="1"/>
          <p:nvPr/>
        </p:nvSpPr>
        <p:spPr>
          <a:xfrm>
            <a:off x="640080" y="2560320"/>
            <a:ext cx="3657600" cy="1463040"/>
          </a:xfrm>
          <a:prstGeom prst="rect">
            <a:avLst/>
          </a:prstGeom>
          <a:noFill/>
          <a:ln/>
        </p:spPr>
        <p:txBody>
          <a:bodyPr wrap="square" lIns="0" tIns="0" rIns="0" bIns="0" rtlCol="0" anchor="t"/>
          <a:lstStyle/>
          <a:p>
            <a:pPr marL="342900" indent="-342900">
              <a:spcAft>
                <a:spcPts val="700"/>
              </a:spcAft>
              <a:buSzPct val="100000"/>
              <a:buChar char="•"/>
            </a:pPr>
            <a:r>
              <a:rPr lang="en-US" sz="1300" dirty="0">
                <a:solidFill>
                  <a:schemeClr val="tx1"/>
                </a:solidFill>
              </a:rPr>
              <a:t>Writes pump_status_report.txt in the analyzed folder</a:t>
            </a:r>
            <a:endParaRPr lang="en-US" sz="1300" dirty="0"/>
          </a:p>
          <a:p>
            <a:pPr marL="342900" indent="-342900">
              <a:spcAft>
                <a:spcPts val="700"/>
              </a:spcAft>
              <a:buSzPct val="100000"/>
              <a:buChar char="•"/>
            </a:pPr>
            <a:r>
              <a:rPr lang="en-US" sz="1300" dirty="0">
                <a:solidFill>
                  <a:schemeClr val="tx1"/>
                </a:solidFill>
              </a:rPr>
              <a:t>Pump-on files listed shortest to longest</a:t>
            </a:r>
            <a:endParaRPr lang="en-US" sz="1300" dirty="0"/>
          </a:p>
          <a:p>
            <a:pPr marL="342900" indent="-342900">
              <a:spcAft>
                <a:spcPts val="700"/>
              </a:spcAft>
              <a:buSzPct val="100000"/>
              <a:buChar char="•"/>
            </a:pPr>
            <a:r>
              <a:rPr lang="en-US" sz="1300" dirty="0">
                <a:solidFill>
                  <a:schemeClr val="tx1"/>
                </a:solidFill>
              </a:rPr>
              <a:t>Same report in app_pump_status.py</a:t>
            </a:r>
            <a:endParaRPr lang="en-US" sz="1300" dirty="0"/>
          </a:p>
        </p:txBody>
      </p:sp>
      <p:sp>
        <p:nvSpPr>
          <p:cNvPr id="9" name="Shape 7"/>
          <p:cNvSpPr/>
          <p:nvPr/>
        </p:nvSpPr>
        <p:spPr>
          <a:xfrm>
            <a:off x="4663440" y="1371600"/>
            <a:ext cx="4023360" cy="2743200"/>
          </a:xfrm>
          <a:prstGeom prst="roundRect">
            <a:avLst>
              <a:gd name="adj" fmla="val 3333"/>
            </a:avLst>
          </a:prstGeom>
          <a:solidFill>
            <a:schemeClr val="bg2"/>
          </a:solidFill>
          <a:ln w="12700">
            <a:solidFill>
              <a:schemeClr val="bg2"/>
            </a:solidFill>
            <a:prstDash val="solid"/>
          </a:ln>
        </p:spPr>
        <p:txBody>
          <a:bodyPr/>
          <a:lstStyle/>
          <a:p>
            <a:endParaRPr lang="en-US"/>
          </a:p>
        </p:txBody>
      </p:sp>
      <p:sp>
        <p:nvSpPr>
          <p:cNvPr id="10" name="path title 1"/>
          <p:cNvSpPr txBox="1"/>
          <p:nvPr/>
        </p:nvSpPr>
        <p:spPr>
          <a:xfrm>
            <a:off x="4846320" y="1463040"/>
            <a:ext cx="3657600" cy="365760"/>
          </a:xfrm>
          <a:prstGeom prst="rect">
            <a:avLst/>
          </a:prstGeom>
          <a:noFill/>
          <a:ln/>
        </p:spPr>
        <p:txBody>
          <a:bodyPr wrap="square" lIns="0" tIns="0" rIns="0" bIns="0" rtlCol="0" anchor="ctr"/>
          <a:lstStyle/>
          <a:p>
            <a:pPr marL="0" indent="0">
              <a:buNone/>
            </a:pPr>
            <a:r>
              <a:rPr lang="en-US" sz="1800" b="1" dirty="0">
                <a:solidFill>
                  <a:schemeClr val="accent3"/>
                </a:solidFill>
              </a:rPr>
              <a:t>No pump status</a:t>
            </a:r>
            <a:endParaRPr lang="en-US" sz="1800" dirty="0"/>
          </a:p>
        </p:txBody>
      </p:sp>
      <p:sp>
        <p:nvSpPr>
          <p:cNvPr id="11" name="Shape 9"/>
          <p:cNvSpPr/>
          <p:nvPr/>
        </p:nvSpPr>
        <p:spPr>
          <a:xfrm>
            <a:off x="4846320" y="1920240"/>
            <a:ext cx="3657600" cy="457200"/>
          </a:xfrm>
          <a:prstGeom prst="roundRect">
            <a:avLst>
              <a:gd name="adj" fmla="val 16000"/>
            </a:avLst>
          </a:prstGeom>
          <a:solidFill>
            <a:schemeClr val="tx1"/>
          </a:solidFill>
          <a:ln w="12700">
            <a:solidFill>
              <a:schemeClr val="tx1"/>
            </a:solidFill>
            <a:prstDash val="solid"/>
          </a:ln>
        </p:spPr>
        <p:txBody>
          <a:bodyPr/>
          <a:lstStyle/>
          <a:p>
            <a:endParaRPr lang="en-US"/>
          </a:p>
        </p:txBody>
      </p:sp>
      <p:sp>
        <p:nvSpPr>
          <p:cNvPr id="12" name="command"/>
          <p:cNvSpPr txBox="1"/>
          <p:nvPr/>
        </p:nvSpPr>
        <p:spPr>
          <a:xfrm>
            <a:off x="4956048" y="1920240"/>
            <a:ext cx="3438144" cy="457200"/>
          </a:xfrm>
          <a:prstGeom prst="rect">
            <a:avLst/>
          </a:prstGeom>
          <a:noFill/>
          <a:ln/>
        </p:spPr>
        <p:txBody>
          <a:bodyPr wrap="square" lIns="0" tIns="0" rIns="0" bIns="0" rtlCol="0" anchor="ctr"/>
          <a:lstStyle/>
          <a:p>
            <a:pPr marL="0" indent="0">
              <a:buNone/>
            </a:pPr>
            <a:r>
              <a:rPr lang="en-US" sz="950" dirty="0">
                <a:solidFill>
                  <a:schemeClr val="bg1"/>
                </a:solidFill>
                <a:latin typeface="Consolas" pitchFamily="34" charset="0"/>
                <a:ea typeface="Consolas" pitchFamily="34" charset="-122"/>
                <a:cs typeface="Consolas" pitchFamily="34" charset="-120"/>
              </a:rPr>
              <a:t>python compare_cnv_lengths.py &lt;cruise_name&gt;</a:t>
            </a:r>
            <a:endParaRPr lang="en-US" sz="950" dirty="0"/>
          </a:p>
        </p:txBody>
      </p:sp>
      <p:sp>
        <p:nvSpPr>
          <p:cNvPr id="13" name="bullets"/>
          <p:cNvSpPr txBox="1"/>
          <p:nvPr/>
        </p:nvSpPr>
        <p:spPr>
          <a:xfrm>
            <a:off x="4846320" y="2560320"/>
            <a:ext cx="3657600" cy="1463040"/>
          </a:xfrm>
          <a:prstGeom prst="rect">
            <a:avLst/>
          </a:prstGeom>
          <a:noFill/>
          <a:ln/>
        </p:spPr>
        <p:txBody>
          <a:bodyPr wrap="square" lIns="0" tIns="0" rIns="0" bIns="0" rtlCol="0" anchor="t"/>
          <a:lstStyle/>
          <a:p>
            <a:pPr marL="342900" indent="-342900">
              <a:spcAft>
                <a:spcPts val="700"/>
              </a:spcAft>
              <a:buSzPct val="100000"/>
              <a:buChar char="•"/>
            </a:pPr>
            <a:r>
              <a:rPr lang="en-US" sz="1300" dirty="0">
                <a:solidFill>
                  <a:schemeClr val="tx1"/>
                </a:solidFill>
              </a:rPr>
              <a:t>First run the Convert step in UPDOWN (down + upcast)</a:t>
            </a:r>
            <a:endParaRPr lang="en-US" sz="1300" dirty="0"/>
          </a:p>
          <a:p>
            <a:pPr marL="342900" indent="-342900">
              <a:spcAft>
                <a:spcPts val="700"/>
              </a:spcAft>
              <a:buSzPct val="100000"/>
              <a:buChar char="•"/>
            </a:pPr>
            <a:r>
              <a:rPr lang="en-US" sz="1300" dirty="0">
                <a:solidFill>
                  <a:schemeClr val="tx1"/>
                </a:solidFill>
              </a:rPr>
              <a:t>Compares row counts of CNV and UPDOWN files</a:t>
            </a:r>
            <a:endParaRPr lang="en-US" sz="1300" dirty="0"/>
          </a:p>
          <a:p>
            <a:pPr marL="342900" indent="-342900">
              <a:spcAft>
                <a:spcPts val="700"/>
              </a:spcAft>
              <a:buSzPct val="100000"/>
              <a:buChar char="•"/>
            </a:pPr>
            <a:r>
              <a:rPr lang="en-US" sz="1300" dirty="0">
                <a:solidFill>
                  <a:schemeClr val="tx1"/>
                </a:solidFill>
              </a:rPr>
              <a:t>Smallest relative CNV length listed first</a:t>
            </a:r>
            <a:endParaRPr lang="en-US" sz="1300" dirty="0"/>
          </a:p>
        </p:txBody>
      </p:sp>
      <p:sp>
        <p:nvSpPr>
          <p:cNvPr id="14" name="next step"/>
          <p:cNvSpPr txBox="1"/>
          <p:nvPr/>
        </p:nvSpPr>
        <p:spPr>
          <a:xfrm>
            <a:off x="457200" y="4251960"/>
            <a:ext cx="8229600" cy="320040"/>
          </a:xfrm>
          <a:prstGeom prst="rect">
            <a:avLst/>
          </a:prstGeom>
          <a:noFill/>
          <a:ln/>
        </p:spPr>
        <p:txBody>
          <a:bodyPr wrap="square" lIns="0" tIns="0" rIns="0" bIns="0" rtlCol="0" anchor="ctr"/>
          <a:lstStyle/>
          <a:p>
            <a:pPr marL="0" indent="0" algn="ctr">
              <a:buNone/>
            </a:pPr>
            <a:r>
              <a:rPr lang="en-US" sz="1400" i="1" dirty="0">
                <a:solidFill>
                  <a:schemeClr val="accent1"/>
                </a:solidFill>
              </a:rPr>
              <a:t>Then re-convert affected stations in UPDOWN and copy them to CNV</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594360"/>
          </a:xfrm>
          <a:prstGeom prst="rect">
            <a:avLst/>
          </a:prstGeom>
          <a:noFill/>
          <a:ln/>
        </p:spPr>
        <p:txBody>
          <a:bodyPr wrap="square" lIns="0" tIns="0" rIns="0" bIns="0" rtlCol="0" anchor="ctr"/>
          <a:lstStyle/>
          <a:p>
            <a:pPr marL="0" indent="0" algn="l">
              <a:buNone/>
            </a:pPr>
            <a:r>
              <a:rPr lang="en-US" sz="3200" b="1" dirty="0">
                <a:solidFill>
                  <a:schemeClr val="tx1"/>
                </a:solidFill>
              </a:rPr>
              <a:t>Why Align Conductivity</a:t>
            </a:r>
            <a:endParaRPr lang="en-US" sz="3200" dirty="0"/>
          </a:p>
        </p:txBody>
      </p:sp>
      <p:sp>
        <p:nvSpPr>
          <p:cNvPr id="3" name="tagline"/>
          <p:cNvSpPr txBox="1"/>
          <p:nvPr/>
        </p:nvSpPr>
        <p:spPr>
          <a:xfrm>
            <a:off x="457200" y="896112"/>
            <a:ext cx="8229600" cy="292608"/>
          </a:xfrm>
          <a:prstGeom prst="rect">
            <a:avLst/>
          </a:prstGeom>
          <a:noFill/>
          <a:ln/>
        </p:spPr>
        <p:txBody>
          <a:bodyPr wrap="square" lIns="0" tIns="0" rIns="0" bIns="0" rtlCol="0" anchor="ctr"/>
          <a:lstStyle/>
          <a:p>
            <a:pPr marL="0" indent="0">
              <a:buNone/>
            </a:pPr>
            <a:r>
              <a:rPr lang="en-US" sz="1500" i="1" dirty="0">
                <a:solidFill>
                  <a:schemeClr val="accent1"/>
                </a:solidFill>
              </a:rPr>
              <a:t>Mismatched T and C samples create salinity spikes</a:t>
            </a:r>
            <a:endParaRPr lang="en-US" sz="1500" dirty="0"/>
          </a:p>
        </p:txBody>
      </p:sp>
      <p:sp>
        <p:nvSpPr>
          <p:cNvPr id="4" name="bullets"/>
          <p:cNvSpPr txBox="1"/>
          <p:nvPr/>
        </p:nvSpPr>
        <p:spPr>
          <a:xfrm>
            <a:off x="457200" y="1371600"/>
            <a:ext cx="8229600" cy="118872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chemeClr val="tx1"/>
                </a:solidFill>
              </a:rPr>
              <a:t>Misaligned T and C show up as salinity spikes and density inversions</a:t>
            </a:r>
            <a:endParaRPr lang="en-US" sz="1400" dirty="0"/>
          </a:p>
          <a:p>
            <a:pPr marL="342900" indent="-342900">
              <a:spcAft>
                <a:spcPts val="700"/>
              </a:spcAft>
              <a:buSzPct val="100000"/>
              <a:buChar char="•"/>
            </a:pPr>
            <a:r>
              <a:rPr lang="en-US" sz="1400" dirty="0">
                <a:solidFill>
                  <a:schemeClr val="tx1"/>
                </a:solidFill>
              </a:rPr>
              <a:t>Not a sensor fault: any T and C pair gives bad salinity if one scan mixes water parcels</a:t>
            </a:r>
            <a:endParaRPr lang="en-US" sz="1400" dirty="0"/>
          </a:p>
          <a:p>
            <a:pPr marL="342900" indent="-342900">
              <a:spcAft>
                <a:spcPts val="700"/>
              </a:spcAft>
              <a:buSzPct val="100000"/>
              <a:buChar char="•"/>
            </a:pPr>
            <a:r>
              <a:rPr lang="en-US" sz="1400" dirty="0">
                <a:solidFill>
                  <a:schemeClr val="tx1"/>
                </a:solidFill>
              </a:rPr>
              <a:t>Fix: shift conductivity relative to pressure, in seconds</a:t>
            </a:r>
            <a:endParaRPr lang="en-US" sz="1400" dirty="0"/>
          </a:p>
        </p:txBody>
      </p:sp>
      <p:sp>
        <p:nvSpPr>
          <p:cNvPr id="5" name="Aligned: clean salinity step frame"/>
          <p:cNvSpPr/>
          <p:nvPr/>
        </p:nvSpPr>
        <p:spPr>
          <a:xfrm>
            <a:off x="487167" y="2587752"/>
            <a:ext cx="2591826" cy="1728216"/>
          </a:xfrm>
          <a:prstGeom prst="rect">
            <a:avLst/>
          </a:prstGeom>
          <a:solidFill>
            <a:schemeClr val="bg1"/>
          </a:solidFill>
          <a:ln w="9525">
            <a:solidFill>
              <a:schemeClr val="accent5"/>
            </a:solidFill>
            <a:prstDash val="solid"/>
          </a:ln>
        </p:spPr>
        <p:txBody>
          <a:bodyPr/>
          <a:lstStyle/>
          <a:p>
            <a:endParaRPr lang="en-US"/>
          </a:p>
        </p:txBody>
      </p:sp>
      <p:pic>
        <p:nvPicPr>
          <p:cNvPr id="6" name="Aligned: clean salinity step" descr="Aligned: clean salinity step"/>
          <p:cNvPicPr>
            <a:picLocks noChangeAspect="1"/>
          </p:cNvPicPr>
          <p:nvPr/>
        </p:nvPicPr>
        <p:blipFill>
          <a:blip r:embed="rId3"/>
          <a:stretch>
            <a:fillRect/>
          </a:stretch>
        </p:blipFill>
        <p:spPr>
          <a:xfrm>
            <a:off x="505455" y="2606040"/>
            <a:ext cx="2555250" cy="1691640"/>
          </a:xfrm>
          <a:prstGeom prst="rect">
            <a:avLst/>
          </a:prstGeom>
        </p:spPr>
      </p:pic>
      <p:sp>
        <p:nvSpPr>
          <p:cNvPr id="7" name="caption"/>
          <p:cNvSpPr txBox="1"/>
          <p:nvPr/>
        </p:nvSpPr>
        <p:spPr>
          <a:xfrm>
            <a:off x="457200" y="4315968"/>
            <a:ext cx="2651760" cy="274320"/>
          </a:xfrm>
          <a:prstGeom prst="rect">
            <a:avLst/>
          </a:prstGeom>
          <a:noFill/>
          <a:ln/>
        </p:spPr>
        <p:txBody>
          <a:bodyPr wrap="square" lIns="0" tIns="0" rIns="0" bIns="0" rtlCol="0" anchor="ctr"/>
          <a:lstStyle/>
          <a:p>
            <a:pPr marL="0" indent="0" algn="ctr">
              <a:buNone/>
            </a:pPr>
            <a:r>
              <a:rPr lang="en-US" sz="1100" i="1" dirty="0">
                <a:solidFill>
                  <a:schemeClr val="accent6"/>
                </a:solidFill>
              </a:rPr>
              <a:t>Aligned: clean salinity step</a:t>
            </a:r>
            <a:endParaRPr lang="en-US" sz="1100" dirty="0"/>
          </a:p>
        </p:txBody>
      </p:sp>
      <p:sp>
        <p:nvSpPr>
          <p:cNvPr id="8" name="C lags T: negative spike frame"/>
          <p:cNvSpPr/>
          <p:nvPr/>
        </p:nvSpPr>
        <p:spPr>
          <a:xfrm>
            <a:off x="3313708" y="2587752"/>
            <a:ext cx="2516584" cy="1728216"/>
          </a:xfrm>
          <a:prstGeom prst="rect">
            <a:avLst/>
          </a:prstGeom>
          <a:solidFill>
            <a:schemeClr val="bg1"/>
          </a:solidFill>
          <a:ln w="9525">
            <a:solidFill>
              <a:schemeClr val="accent5"/>
            </a:solidFill>
            <a:prstDash val="solid"/>
          </a:ln>
        </p:spPr>
        <p:txBody>
          <a:bodyPr/>
          <a:lstStyle/>
          <a:p>
            <a:endParaRPr lang="en-US"/>
          </a:p>
        </p:txBody>
      </p:sp>
      <p:pic>
        <p:nvPicPr>
          <p:cNvPr id="9" name="C lags T: negative spike" descr="C lags T: negative spike"/>
          <p:cNvPicPr>
            <a:picLocks noChangeAspect="1"/>
          </p:cNvPicPr>
          <p:nvPr/>
        </p:nvPicPr>
        <p:blipFill>
          <a:blip r:embed="rId4"/>
          <a:stretch>
            <a:fillRect/>
          </a:stretch>
        </p:blipFill>
        <p:spPr>
          <a:xfrm>
            <a:off x="3331996" y="2606040"/>
            <a:ext cx="2480008" cy="1691640"/>
          </a:xfrm>
          <a:prstGeom prst="rect">
            <a:avLst/>
          </a:prstGeom>
        </p:spPr>
      </p:pic>
      <p:sp>
        <p:nvSpPr>
          <p:cNvPr id="10" name="caption"/>
          <p:cNvSpPr txBox="1"/>
          <p:nvPr/>
        </p:nvSpPr>
        <p:spPr>
          <a:xfrm>
            <a:off x="3246120" y="4315968"/>
            <a:ext cx="2651760" cy="274320"/>
          </a:xfrm>
          <a:prstGeom prst="rect">
            <a:avLst/>
          </a:prstGeom>
          <a:noFill/>
          <a:ln/>
        </p:spPr>
        <p:txBody>
          <a:bodyPr wrap="square" lIns="0" tIns="0" rIns="0" bIns="0" rtlCol="0" anchor="ctr"/>
          <a:lstStyle/>
          <a:p>
            <a:pPr marL="0" indent="0" algn="ctr">
              <a:buNone/>
            </a:pPr>
            <a:r>
              <a:rPr lang="en-US" sz="1100" i="1" dirty="0">
                <a:solidFill>
                  <a:schemeClr val="accent6"/>
                </a:solidFill>
              </a:rPr>
              <a:t>C lags T: negative spike</a:t>
            </a:r>
            <a:endParaRPr lang="en-US" sz="1100" dirty="0"/>
          </a:p>
        </p:txBody>
      </p:sp>
      <p:sp>
        <p:nvSpPr>
          <p:cNvPr id="11" name="C leads T: positive spike frame"/>
          <p:cNvSpPr/>
          <p:nvPr/>
        </p:nvSpPr>
        <p:spPr>
          <a:xfrm>
            <a:off x="6089861" y="2587752"/>
            <a:ext cx="2542118" cy="1728216"/>
          </a:xfrm>
          <a:prstGeom prst="rect">
            <a:avLst/>
          </a:prstGeom>
          <a:solidFill>
            <a:schemeClr val="bg1"/>
          </a:solidFill>
          <a:ln w="9525">
            <a:solidFill>
              <a:schemeClr val="accent5"/>
            </a:solidFill>
            <a:prstDash val="solid"/>
          </a:ln>
        </p:spPr>
        <p:txBody>
          <a:bodyPr/>
          <a:lstStyle/>
          <a:p>
            <a:endParaRPr lang="en-US"/>
          </a:p>
        </p:txBody>
      </p:sp>
      <p:pic>
        <p:nvPicPr>
          <p:cNvPr id="12" name="C leads T: positive spike" descr="C leads T: positive spike"/>
          <p:cNvPicPr>
            <a:picLocks noChangeAspect="1"/>
          </p:cNvPicPr>
          <p:nvPr/>
        </p:nvPicPr>
        <p:blipFill>
          <a:blip r:embed="rId5"/>
          <a:stretch>
            <a:fillRect/>
          </a:stretch>
        </p:blipFill>
        <p:spPr>
          <a:xfrm>
            <a:off x="6108149" y="2606040"/>
            <a:ext cx="2505542" cy="1691640"/>
          </a:xfrm>
          <a:prstGeom prst="rect">
            <a:avLst/>
          </a:prstGeom>
        </p:spPr>
      </p:pic>
      <p:sp>
        <p:nvSpPr>
          <p:cNvPr id="13" name="caption"/>
          <p:cNvSpPr txBox="1"/>
          <p:nvPr/>
        </p:nvSpPr>
        <p:spPr>
          <a:xfrm>
            <a:off x="6035040" y="4315968"/>
            <a:ext cx="2651760" cy="274320"/>
          </a:xfrm>
          <a:prstGeom prst="rect">
            <a:avLst/>
          </a:prstGeom>
          <a:noFill/>
          <a:ln/>
        </p:spPr>
        <p:txBody>
          <a:bodyPr wrap="square" lIns="0" tIns="0" rIns="0" bIns="0" rtlCol="0" anchor="ctr"/>
          <a:lstStyle/>
          <a:p>
            <a:pPr marL="0" indent="0" algn="ctr">
              <a:buNone/>
            </a:pPr>
            <a:r>
              <a:rPr lang="en-US" sz="1100" i="1" dirty="0">
                <a:solidFill>
                  <a:schemeClr val="accent6"/>
                </a:solidFill>
              </a:rPr>
              <a:t>C leads T: positive spike</a:t>
            </a:r>
            <a:endParaRPr lang="en-US" sz="1100" dirty="0"/>
          </a:p>
        </p:txBody>
      </p:sp>
      <p:sp>
        <p:nvSpPr>
          <p:cNvPr id="14" name="source note"/>
          <p:cNvSpPr txBox="1"/>
          <p:nvPr/>
        </p:nvSpPr>
        <p:spPr>
          <a:xfrm>
            <a:off x="3474720" y="4754880"/>
            <a:ext cx="4663440" cy="274320"/>
          </a:xfrm>
          <a:prstGeom prst="rect">
            <a:avLst/>
          </a:prstGeom>
          <a:noFill/>
          <a:ln/>
        </p:spPr>
        <p:txBody>
          <a:bodyPr wrap="square" lIns="0" tIns="0" rIns="0" bIns="0" rtlCol="0" anchor="ctr"/>
          <a:lstStyle/>
          <a:p>
            <a:pPr marL="0" indent="0" algn="r">
              <a:buNone/>
            </a:pPr>
            <a:r>
              <a:rPr lang="en-US" sz="900" dirty="0">
                <a:solidFill>
                  <a:schemeClr val="accent6"/>
                </a:solidFill>
              </a:rPr>
              <a:t>Figure: Sea-Bird Scientific, SBE Data Processing training, Module 9</a:t>
            </a:r>
            <a:endParaRPr lang="en-US" sz="9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594360"/>
          </a:xfrm>
          <a:prstGeom prst="rect">
            <a:avLst/>
          </a:prstGeom>
          <a:noFill/>
          <a:ln/>
        </p:spPr>
        <p:txBody>
          <a:bodyPr wrap="square" lIns="0" tIns="0" rIns="0" bIns="0" rtlCol="0" anchor="ctr"/>
          <a:lstStyle/>
          <a:p>
            <a:pPr marL="0" indent="0" algn="l">
              <a:buNone/>
            </a:pPr>
            <a:r>
              <a:rPr lang="en-US" sz="3200" b="1" dirty="0">
                <a:solidFill>
                  <a:schemeClr val="tx1"/>
                </a:solidFill>
              </a:rPr>
              <a:t>Choosing the Conductivity Shift</a:t>
            </a:r>
            <a:endParaRPr lang="en-US" sz="3200" dirty="0"/>
          </a:p>
        </p:txBody>
      </p:sp>
      <p:sp>
        <p:nvSpPr>
          <p:cNvPr id="3" name="tagline"/>
          <p:cNvSpPr txBox="1"/>
          <p:nvPr/>
        </p:nvSpPr>
        <p:spPr>
          <a:xfrm>
            <a:off x="457200" y="896112"/>
            <a:ext cx="8229600" cy="292608"/>
          </a:xfrm>
          <a:prstGeom prst="rect">
            <a:avLst/>
          </a:prstGeom>
          <a:noFill/>
          <a:ln/>
        </p:spPr>
        <p:txBody>
          <a:bodyPr wrap="square" lIns="0" tIns="0" rIns="0" bIns="0" rtlCol="0" anchor="ctr"/>
          <a:lstStyle/>
          <a:p>
            <a:pPr marL="0" indent="0">
              <a:buNone/>
            </a:pPr>
            <a:r>
              <a:rPr lang="en-US" sz="1500" i="1" dirty="0">
                <a:solidFill>
                  <a:schemeClr val="accent1"/>
                </a:solidFill>
              </a:rPr>
              <a:t>Look at a sharp gradient and test values</a:t>
            </a:r>
            <a:endParaRPr lang="en-US" sz="1500" dirty="0"/>
          </a:p>
        </p:txBody>
      </p:sp>
      <p:sp>
        <p:nvSpPr>
          <p:cNvPr id="4" name="bullets"/>
          <p:cNvSpPr txBox="1"/>
          <p:nvPr/>
        </p:nvSpPr>
        <p:spPr>
          <a:xfrm>
            <a:off x="457200" y="1417320"/>
            <a:ext cx="3383280" cy="3108960"/>
          </a:xfrm>
          <a:prstGeom prst="rect">
            <a:avLst/>
          </a:prstGeom>
          <a:noFill/>
          <a:ln/>
        </p:spPr>
        <p:txBody>
          <a:bodyPr wrap="square" lIns="0" tIns="0" rIns="0" bIns="0" rtlCol="0" anchor="t"/>
          <a:lstStyle/>
          <a:p>
            <a:pPr marL="342900" indent="-342900">
              <a:spcAft>
                <a:spcPts val="700"/>
              </a:spcAft>
              <a:buSzPct val="100000"/>
              <a:buChar char="•"/>
            </a:pPr>
            <a:r>
              <a:rPr lang="en-US" sz="1300" dirty="0">
                <a:solidFill>
                  <a:schemeClr val="tx1"/>
                </a:solidFill>
              </a:rPr>
              <a:t>SBE 11plus applies 1.75 scans (0.073 s) automatically to primary channel; that is the Sea-Bird default</a:t>
            </a:r>
            <a:endParaRPr lang="en-US" sz="1300" dirty="0"/>
          </a:p>
          <a:p>
            <a:pPr marL="342900" indent="-342900">
              <a:spcAft>
                <a:spcPts val="700"/>
              </a:spcAft>
              <a:buSzPct val="100000"/>
              <a:buChar char="•"/>
            </a:pPr>
            <a:r>
              <a:rPr lang="en-US" sz="1300" dirty="0">
                <a:solidFill>
                  <a:schemeClr val="tx1"/>
                </a:solidFill>
              </a:rPr>
              <a:t>Plumbing or pump speed changes move the best value: slower pump, larger shift</a:t>
            </a:r>
            <a:endParaRPr lang="en-US" sz="1300" dirty="0"/>
          </a:p>
          <a:p>
            <a:pPr marL="342900" indent="-342900">
              <a:spcAft>
                <a:spcPts val="700"/>
              </a:spcAft>
              <a:buSzPct val="100000"/>
              <a:buChar char="•"/>
            </a:pPr>
            <a:r>
              <a:rPr lang="en-US" sz="1300" dirty="0">
                <a:solidFill>
                  <a:schemeClr val="tx1"/>
                </a:solidFill>
              </a:rPr>
              <a:t>Pick a sharp salinity gradient and adjust until spikes shrink</a:t>
            </a:r>
            <a:endParaRPr lang="en-US" sz="1300" dirty="0"/>
          </a:p>
          <a:p>
            <a:pPr marL="342900" indent="-342900">
              <a:spcAft>
                <a:spcPts val="700"/>
              </a:spcAft>
              <a:buSzPct val="100000"/>
              <a:buChar char="•"/>
            </a:pPr>
            <a:r>
              <a:rPr lang="en-US" sz="1300" dirty="0">
                <a:solidFill>
                  <a:schemeClr val="tx1"/>
                </a:solidFill>
              </a:rPr>
              <a:t>Plot descent rate too: ship heave causes spikes that alignment cannot fix</a:t>
            </a:r>
            <a:endParaRPr lang="en-US" sz="1300" dirty="0"/>
          </a:p>
        </p:txBody>
      </p:sp>
      <p:sp>
        <p:nvSpPr>
          <p:cNvPr id="5" name="Faroe four-panel alignment frame"/>
          <p:cNvSpPr/>
          <p:nvPr/>
        </p:nvSpPr>
        <p:spPr>
          <a:xfrm>
            <a:off x="4050792" y="1356798"/>
            <a:ext cx="4654296" cy="3047123"/>
          </a:xfrm>
          <a:prstGeom prst="rect">
            <a:avLst/>
          </a:prstGeom>
          <a:solidFill>
            <a:schemeClr val="bg1"/>
          </a:solidFill>
          <a:ln w="9525">
            <a:solidFill>
              <a:schemeClr val="accent5"/>
            </a:solidFill>
            <a:prstDash val="solid"/>
          </a:ln>
        </p:spPr>
        <p:txBody>
          <a:bodyPr/>
          <a:lstStyle/>
          <a:p>
            <a:endParaRPr lang="en-US"/>
          </a:p>
        </p:txBody>
      </p:sp>
      <p:pic>
        <p:nvPicPr>
          <p:cNvPr id="6" name="Faroe four-panel alignment" descr="Faroe four-panel alignment"/>
          <p:cNvPicPr>
            <a:picLocks noChangeAspect="1"/>
          </p:cNvPicPr>
          <p:nvPr/>
        </p:nvPicPr>
        <p:blipFill>
          <a:blip r:embed="rId3"/>
          <a:stretch>
            <a:fillRect/>
          </a:stretch>
        </p:blipFill>
        <p:spPr>
          <a:xfrm>
            <a:off x="4069080" y="1375086"/>
            <a:ext cx="4617720" cy="3010547"/>
          </a:xfrm>
          <a:prstGeom prst="rect">
            <a:avLst/>
          </a:prstGeom>
        </p:spPr>
      </p:pic>
      <p:sp>
        <p:nvSpPr>
          <p:cNvPr id="7" name="caption"/>
          <p:cNvSpPr txBox="1"/>
          <p:nvPr/>
        </p:nvSpPr>
        <p:spPr>
          <a:xfrm>
            <a:off x="4069080" y="4440498"/>
            <a:ext cx="4617720" cy="274320"/>
          </a:xfrm>
          <a:prstGeom prst="rect">
            <a:avLst/>
          </a:prstGeom>
          <a:noFill/>
          <a:ln/>
        </p:spPr>
        <p:txBody>
          <a:bodyPr wrap="square" lIns="0" tIns="0" rIns="0" bIns="0" rtlCol="0" anchor="ctr"/>
          <a:lstStyle/>
          <a:p>
            <a:pPr marL="0" indent="0" algn="ctr">
              <a:buNone/>
            </a:pPr>
            <a:r>
              <a:rPr lang="en-US" sz="1100" i="1" dirty="0">
                <a:solidFill>
                  <a:schemeClr val="accent6"/>
                </a:solidFill>
              </a:rPr>
              <a:t>Faroe data: original vs conductivity advanced 1, 2, 3 scans</a:t>
            </a:r>
            <a:endParaRPr lang="en-US" sz="1100" dirty="0"/>
          </a:p>
        </p:txBody>
      </p:sp>
      <p:sp>
        <p:nvSpPr>
          <p:cNvPr id="8" name="source note"/>
          <p:cNvSpPr txBox="1"/>
          <p:nvPr/>
        </p:nvSpPr>
        <p:spPr>
          <a:xfrm>
            <a:off x="3474720" y="4754880"/>
            <a:ext cx="4663440" cy="274320"/>
          </a:xfrm>
          <a:prstGeom prst="rect">
            <a:avLst/>
          </a:prstGeom>
          <a:noFill/>
          <a:ln/>
        </p:spPr>
        <p:txBody>
          <a:bodyPr wrap="square" lIns="0" tIns="0" rIns="0" bIns="0" rtlCol="0" anchor="ctr"/>
          <a:lstStyle/>
          <a:p>
            <a:pPr marL="0" indent="0" algn="r">
              <a:buNone/>
            </a:pPr>
            <a:r>
              <a:rPr lang="en-US" sz="900" dirty="0">
                <a:solidFill>
                  <a:schemeClr val="accent6"/>
                </a:solidFill>
              </a:rPr>
              <a:t>Figure: Sea-Bird Scientific, SBE Data Processing training, Module 9</a:t>
            </a:r>
            <a:endParaRPr lang="en-US" sz="9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594360"/>
          </a:xfrm>
          <a:prstGeom prst="rect">
            <a:avLst/>
          </a:prstGeom>
          <a:noFill/>
          <a:ln/>
        </p:spPr>
        <p:txBody>
          <a:bodyPr wrap="square" lIns="0" tIns="0" rIns="0" bIns="0" rtlCol="0" anchor="ctr"/>
          <a:lstStyle/>
          <a:p>
            <a:pPr marL="0" indent="0" algn="l">
              <a:buNone/>
            </a:pPr>
            <a:r>
              <a:rPr lang="en-US" sz="3200" b="1" dirty="0">
                <a:solidFill>
                  <a:schemeClr val="tx1"/>
                </a:solidFill>
              </a:rPr>
              <a:t>Conductivity Alignment Experiment</a:t>
            </a:r>
            <a:endParaRPr lang="en-US" sz="3200" dirty="0"/>
          </a:p>
        </p:txBody>
      </p:sp>
      <p:sp>
        <p:nvSpPr>
          <p:cNvPr id="3" name="tagline"/>
          <p:cNvSpPr txBox="1"/>
          <p:nvPr/>
        </p:nvSpPr>
        <p:spPr>
          <a:xfrm>
            <a:off x="457200" y="896112"/>
            <a:ext cx="8229600" cy="292608"/>
          </a:xfrm>
          <a:prstGeom prst="rect">
            <a:avLst/>
          </a:prstGeom>
          <a:noFill/>
          <a:ln/>
        </p:spPr>
        <p:txBody>
          <a:bodyPr wrap="square" lIns="0" tIns="0" rIns="0" bIns="0" rtlCol="0" anchor="ctr"/>
          <a:lstStyle/>
          <a:p>
            <a:pPr marL="0" indent="0">
              <a:buNone/>
            </a:pPr>
            <a:r>
              <a:rPr lang="en-US" sz="1500" i="1" dirty="0">
                <a:solidFill>
                  <a:schemeClr val="accent1"/>
                </a:solidFill>
              </a:rPr>
              <a:t>experiment_TC_delays.sh tests several values at once</a:t>
            </a:r>
            <a:endParaRPr lang="en-US" sz="1500" dirty="0"/>
          </a:p>
        </p:txBody>
      </p:sp>
      <p:sp>
        <p:nvSpPr>
          <p:cNvPr id="4" name="Shape 2"/>
          <p:cNvSpPr/>
          <p:nvPr/>
        </p:nvSpPr>
        <p:spPr>
          <a:xfrm>
            <a:off x="457200" y="1371600"/>
            <a:ext cx="4114800" cy="457200"/>
          </a:xfrm>
          <a:prstGeom prst="roundRect">
            <a:avLst>
              <a:gd name="adj" fmla="val 16000"/>
            </a:avLst>
          </a:prstGeom>
          <a:solidFill>
            <a:schemeClr val="tx1"/>
          </a:solidFill>
          <a:ln w="12700">
            <a:solidFill>
              <a:schemeClr val="tx1"/>
            </a:solidFill>
            <a:prstDash val="solid"/>
          </a:ln>
        </p:spPr>
        <p:txBody>
          <a:bodyPr/>
          <a:lstStyle/>
          <a:p>
            <a:endParaRPr lang="en-US"/>
          </a:p>
        </p:txBody>
      </p:sp>
      <p:sp>
        <p:nvSpPr>
          <p:cNvPr id="5" name="command"/>
          <p:cNvSpPr txBox="1"/>
          <p:nvPr/>
        </p:nvSpPr>
        <p:spPr>
          <a:xfrm>
            <a:off x="566928" y="1371600"/>
            <a:ext cx="3895344" cy="457200"/>
          </a:xfrm>
          <a:prstGeom prst="rect">
            <a:avLst/>
          </a:prstGeom>
          <a:noFill/>
          <a:ln/>
        </p:spPr>
        <p:txBody>
          <a:bodyPr wrap="square" lIns="0" tIns="0" rIns="0" bIns="0" rtlCol="0" anchor="ctr"/>
          <a:lstStyle/>
          <a:p>
            <a:pPr marL="0" indent="0">
              <a:buNone/>
            </a:pPr>
            <a:r>
              <a:rPr lang="en-US" sz="950" dirty="0">
                <a:solidFill>
                  <a:schemeClr val="bg1"/>
                </a:solidFill>
                <a:latin typeface="Consolas" pitchFamily="34" charset="0"/>
                <a:ea typeface="Consolas" pitchFamily="34" charset="-122"/>
                <a:cs typeface="Consolas" pitchFamily="34" charset="-120"/>
              </a:rPr>
              <a:t>bash experiment_TC_delays.sh &lt;cruise&gt; [start end n]</a:t>
            </a:r>
            <a:endParaRPr lang="en-US" sz="950" dirty="0"/>
          </a:p>
        </p:txBody>
      </p:sp>
      <p:sp>
        <p:nvSpPr>
          <p:cNvPr id="6" name="bullets"/>
          <p:cNvSpPr txBox="1"/>
          <p:nvPr/>
        </p:nvSpPr>
        <p:spPr>
          <a:xfrm>
            <a:off x="457200" y="2057400"/>
            <a:ext cx="4114800" cy="2468880"/>
          </a:xfrm>
          <a:prstGeom prst="rect">
            <a:avLst/>
          </a:prstGeom>
          <a:noFill/>
          <a:ln/>
        </p:spPr>
        <p:txBody>
          <a:bodyPr wrap="square" lIns="0" tIns="0" rIns="0" bIns="0" rtlCol="0" anchor="t"/>
          <a:lstStyle/>
          <a:p>
            <a:pPr marL="342900" indent="-342900">
              <a:spcAft>
                <a:spcPts val="700"/>
              </a:spcAft>
              <a:buSzPct val="100000"/>
              <a:buChar char="•"/>
            </a:pPr>
            <a:r>
              <a:rPr lang="en-US" sz="1300" dirty="0">
                <a:solidFill>
                  <a:schemeClr val="tx1"/>
                </a:solidFill>
              </a:rPr>
              <a:t>Default: 4 values from 0.03 to 0.09 s; SBE911Plus default is 0.073 s</a:t>
            </a:r>
            <a:endParaRPr lang="en-US" sz="1300" dirty="0"/>
          </a:p>
          <a:p>
            <a:pPr marL="342900" indent="-342900">
              <a:spcAft>
                <a:spcPts val="700"/>
              </a:spcAft>
              <a:buSzPct val="100000"/>
              <a:buChar char="•"/>
            </a:pPr>
            <a:r>
              <a:rPr lang="en-US" sz="1300" dirty="0">
                <a:solidFill>
                  <a:schemeClr val="tx1"/>
                </a:solidFill>
              </a:rPr>
              <a:t>Needs the downcast conversion already done in CNV</a:t>
            </a:r>
            <a:endParaRPr lang="en-US" sz="1300" dirty="0"/>
          </a:p>
          <a:p>
            <a:pPr marL="342900" indent="-342900">
              <a:spcAft>
                <a:spcPts val="700"/>
              </a:spcAft>
              <a:buSzPct val="100000"/>
              <a:buChar char="•"/>
            </a:pPr>
            <a:r>
              <a:rPr lang="en-US" sz="1300" dirty="0">
                <a:solidFill>
                  <a:schemeClr val="tx1"/>
                </a:solidFill>
              </a:rPr>
              <a:t>One folder per value in ALIGN_TC/OUT/</a:t>
            </a:r>
            <a:endParaRPr lang="en-US" sz="1300" dirty="0"/>
          </a:p>
          <a:p>
            <a:pPr marL="342900" indent="-342900">
              <a:spcAft>
                <a:spcPts val="700"/>
              </a:spcAft>
              <a:buSzPct val="100000"/>
              <a:buChar char="•"/>
            </a:pPr>
            <a:r>
              <a:rPr lang="en-US" sz="1300" dirty="0">
                <a:solidFill>
                  <a:schemeClr val="tx1"/>
                </a:solidFill>
              </a:rPr>
              <a:t>Stops if SBEBatch.exe is missing or output folders already exist</a:t>
            </a:r>
            <a:endParaRPr lang="en-US" sz="1300" dirty="0"/>
          </a:p>
        </p:txBody>
      </p:sp>
      <p:sp>
        <p:nvSpPr>
          <p:cNvPr id="7" name="SBE 19plus alignment example frame"/>
          <p:cNvSpPr/>
          <p:nvPr/>
        </p:nvSpPr>
        <p:spPr>
          <a:xfrm>
            <a:off x="4936331" y="1353312"/>
            <a:ext cx="3660459" cy="2962656"/>
          </a:xfrm>
          <a:prstGeom prst="rect">
            <a:avLst/>
          </a:prstGeom>
          <a:solidFill>
            <a:schemeClr val="bg1"/>
          </a:solidFill>
          <a:ln w="9525">
            <a:solidFill>
              <a:schemeClr val="accent5"/>
            </a:solidFill>
            <a:prstDash val="solid"/>
          </a:ln>
        </p:spPr>
        <p:txBody>
          <a:bodyPr/>
          <a:lstStyle/>
          <a:p>
            <a:endParaRPr lang="en-US"/>
          </a:p>
        </p:txBody>
      </p:sp>
      <p:pic>
        <p:nvPicPr>
          <p:cNvPr id="8" name="SBE 19plus alignment example" descr="SBE 19plus alignment example"/>
          <p:cNvPicPr>
            <a:picLocks noChangeAspect="1"/>
          </p:cNvPicPr>
          <p:nvPr/>
        </p:nvPicPr>
        <p:blipFill>
          <a:blip r:embed="rId3"/>
          <a:stretch>
            <a:fillRect/>
          </a:stretch>
        </p:blipFill>
        <p:spPr>
          <a:xfrm>
            <a:off x="4954619" y="1371600"/>
            <a:ext cx="3623883" cy="2926080"/>
          </a:xfrm>
          <a:prstGeom prst="rect">
            <a:avLst/>
          </a:prstGeom>
        </p:spPr>
      </p:pic>
      <p:sp>
        <p:nvSpPr>
          <p:cNvPr id="9" name="caption"/>
          <p:cNvSpPr txBox="1"/>
          <p:nvPr/>
        </p:nvSpPr>
        <p:spPr>
          <a:xfrm>
            <a:off x="4846320" y="4352544"/>
            <a:ext cx="3840480" cy="274320"/>
          </a:xfrm>
          <a:prstGeom prst="rect">
            <a:avLst/>
          </a:prstGeom>
          <a:noFill/>
          <a:ln/>
        </p:spPr>
        <p:txBody>
          <a:bodyPr wrap="square" lIns="0" tIns="0" rIns="0" bIns="0" rtlCol="0" anchor="ctr"/>
          <a:lstStyle/>
          <a:p>
            <a:pPr marL="0" indent="0" algn="ctr">
              <a:buNone/>
            </a:pPr>
            <a:r>
              <a:rPr lang="en-US" sz="1100" i="1" dirty="0">
                <a:solidFill>
                  <a:schemeClr val="accent6"/>
                </a:solidFill>
              </a:rPr>
              <a:t>SBE 19plus example: unaligned, then 0.25 to 1.0 s</a:t>
            </a:r>
            <a:endParaRPr lang="en-US" sz="1100" dirty="0"/>
          </a:p>
        </p:txBody>
      </p:sp>
      <p:sp>
        <p:nvSpPr>
          <p:cNvPr id="10" name="source note"/>
          <p:cNvSpPr txBox="1"/>
          <p:nvPr/>
        </p:nvSpPr>
        <p:spPr>
          <a:xfrm>
            <a:off x="3474720" y="4754880"/>
            <a:ext cx="4663440" cy="274320"/>
          </a:xfrm>
          <a:prstGeom prst="rect">
            <a:avLst/>
          </a:prstGeom>
          <a:noFill/>
          <a:ln/>
        </p:spPr>
        <p:txBody>
          <a:bodyPr wrap="square" lIns="0" tIns="0" rIns="0" bIns="0" rtlCol="0" anchor="ctr"/>
          <a:lstStyle/>
          <a:p>
            <a:pPr marL="0" indent="0" algn="r">
              <a:buNone/>
            </a:pPr>
            <a:r>
              <a:rPr lang="en-US" sz="900" dirty="0">
                <a:solidFill>
                  <a:schemeClr val="accent6"/>
                </a:solidFill>
              </a:rPr>
              <a:t>Figure: Sea-Bird Scientific, SBE Data Processing training, Module 9</a:t>
            </a:r>
            <a:endParaRPr lang="en-US" sz="9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594360"/>
          </a:xfrm>
          <a:prstGeom prst="rect">
            <a:avLst/>
          </a:prstGeom>
          <a:noFill/>
          <a:ln/>
        </p:spPr>
        <p:txBody>
          <a:bodyPr wrap="square" lIns="0" tIns="0" rIns="0" bIns="0" rtlCol="0" anchor="ctr"/>
          <a:lstStyle/>
          <a:p>
            <a:pPr marL="0" indent="0" algn="l">
              <a:buNone/>
            </a:pPr>
            <a:r>
              <a:rPr lang="en-US" sz="3200" b="1" dirty="0">
                <a:solidFill>
                  <a:schemeClr val="tx1"/>
                </a:solidFill>
              </a:rPr>
              <a:t>Why Align Oxygen</a:t>
            </a:r>
            <a:endParaRPr lang="en-US" sz="3200" dirty="0"/>
          </a:p>
        </p:txBody>
      </p:sp>
      <p:sp>
        <p:nvSpPr>
          <p:cNvPr id="3" name="tagline"/>
          <p:cNvSpPr txBox="1"/>
          <p:nvPr/>
        </p:nvSpPr>
        <p:spPr>
          <a:xfrm>
            <a:off x="457200" y="896112"/>
            <a:ext cx="8229600" cy="292608"/>
          </a:xfrm>
          <a:prstGeom prst="rect">
            <a:avLst/>
          </a:prstGeom>
          <a:noFill/>
          <a:ln/>
        </p:spPr>
        <p:txBody>
          <a:bodyPr wrap="square" lIns="0" tIns="0" rIns="0" bIns="0" rtlCol="0" anchor="ctr"/>
          <a:lstStyle/>
          <a:p>
            <a:pPr marL="0" indent="0">
              <a:buNone/>
            </a:pPr>
            <a:r>
              <a:rPr lang="en-US" sz="1500" i="1" dirty="0">
                <a:solidFill>
                  <a:schemeClr val="accent1"/>
                </a:solidFill>
              </a:rPr>
              <a:t>Plumbing and sensor response delay the signal</a:t>
            </a:r>
            <a:endParaRPr lang="en-US" sz="1500" dirty="0"/>
          </a:p>
        </p:txBody>
      </p:sp>
      <p:sp>
        <p:nvSpPr>
          <p:cNvPr id="4" name="bullets"/>
          <p:cNvSpPr txBox="1"/>
          <p:nvPr/>
        </p:nvSpPr>
        <p:spPr>
          <a:xfrm>
            <a:off x="457200" y="1417320"/>
            <a:ext cx="3840480" cy="3108960"/>
          </a:xfrm>
          <a:prstGeom prst="rect">
            <a:avLst/>
          </a:prstGeom>
          <a:noFill/>
          <a:ln/>
        </p:spPr>
        <p:txBody>
          <a:bodyPr wrap="square" lIns="0" tIns="0" rIns="0" bIns="0" rtlCol="0" anchor="t"/>
          <a:lstStyle/>
          <a:p>
            <a:pPr marL="342900" indent="-342900">
              <a:spcAft>
                <a:spcPts val="700"/>
              </a:spcAft>
              <a:buSzPct val="100000"/>
              <a:buChar char="•"/>
            </a:pPr>
            <a:r>
              <a:rPr lang="en-US" sz="1300" dirty="0">
                <a:solidFill>
                  <a:schemeClr val="tx1"/>
                </a:solidFill>
              </a:rPr>
              <a:t>Sensor time constant is about 2 to 6 s, depending on temperature</a:t>
            </a:r>
            <a:endParaRPr lang="en-US" sz="1300" dirty="0"/>
          </a:p>
          <a:p>
            <a:pPr marL="342900" indent="-342900">
              <a:spcAft>
                <a:spcPts val="700"/>
              </a:spcAft>
              <a:buSzPct val="100000"/>
              <a:buChar char="•"/>
            </a:pPr>
            <a:r>
              <a:rPr lang="en-US" sz="1300" dirty="0">
                <a:solidFill>
                  <a:schemeClr val="tx1"/>
                </a:solidFill>
              </a:rPr>
              <a:t>Plumbing adds about 2 s; delays total about 4 s</a:t>
            </a:r>
            <a:endParaRPr lang="en-US" sz="1300" dirty="0"/>
          </a:p>
          <a:p>
            <a:pPr marL="342900" indent="-342900">
              <a:spcAft>
                <a:spcPts val="700"/>
              </a:spcAft>
              <a:buSzPct val="100000"/>
              <a:buChar char="•"/>
            </a:pPr>
            <a:r>
              <a:rPr lang="en-US" sz="1300" dirty="0">
                <a:solidFill>
                  <a:schemeClr val="tx1"/>
                </a:solidFill>
              </a:rPr>
              <a:t>Delays, T mismatch, and slow response cause hysteresis in profiles</a:t>
            </a:r>
            <a:endParaRPr lang="en-US" sz="1300" dirty="0"/>
          </a:p>
          <a:p>
            <a:pPr marL="342900" indent="-342900">
              <a:spcAft>
                <a:spcPts val="700"/>
              </a:spcAft>
              <a:buSzPct val="100000"/>
              <a:buChar char="•"/>
            </a:pPr>
            <a:r>
              <a:rPr lang="en-US" sz="1300" dirty="0">
                <a:solidFill>
                  <a:schemeClr val="tx1"/>
                </a:solidFill>
              </a:rPr>
              <a:t>The newer SBE 43 reduces these problems</a:t>
            </a:r>
            <a:endParaRPr lang="en-US" sz="1300" dirty="0"/>
          </a:p>
        </p:txBody>
      </p:sp>
      <p:sp>
        <p:nvSpPr>
          <p:cNvPr id="5" name="Hysteresis in oxygen profiles frame"/>
          <p:cNvSpPr/>
          <p:nvPr/>
        </p:nvSpPr>
        <p:spPr>
          <a:xfrm>
            <a:off x="4507992" y="1443128"/>
            <a:ext cx="4197096" cy="1868623"/>
          </a:xfrm>
          <a:prstGeom prst="rect">
            <a:avLst/>
          </a:prstGeom>
          <a:solidFill>
            <a:schemeClr val="bg1"/>
          </a:solidFill>
          <a:ln w="9525">
            <a:solidFill>
              <a:schemeClr val="accent5"/>
            </a:solidFill>
            <a:prstDash val="solid"/>
          </a:ln>
        </p:spPr>
        <p:txBody>
          <a:bodyPr/>
          <a:lstStyle/>
          <a:p>
            <a:endParaRPr lang="en-US"/>
          </a:p>
        </p:txBody>
      </p:sp>
      <p:pic>
        <p:nvPicPr>
          <p:cNvPr id="6" name="Hysteresis in oxygen profiles" descr="Hysteresis in oxygen profiles"/>
          <p:cNvPicPr>
            <a:picLocks noChangeAspect="1"/>
          </p:cNvPicPr>
          <p:nvPr/>
        </p:nvPicPr>
        <p:blipFill>
          <a:blip r:embed="rId3"/>
          <a:stretch>
            <a:fillRect/>
          </a:stretch>
        </p:blipFill>
        <p:spPr>
          <a:xfrm>
            <a:off x="4526280" y="1461416"/>
            <a:ext cx="4160520" cy="1832047"/>
          </a:xfrm>
          <a:prstGeom prst="rect">
            <a:avLst/>
          </a:prstGeom>
        </p:spPr>
      </p:pic>
      <p:sp>
        <p:nvSpPr>
          <p:cNvPr id="7" name="caption"/>
          <p:cNvSpPr txBox="1"/>
          <p:nvPr/>
        </p:nvSpPr>
        <p:spPr>
          <a:xfrm>
            <a:off x="4526280" y="3348328"/>
            <a:ext cx="4160520" cy="274320"/>
          </a:xfrm>
          <a:prstGeom prst="rect">
            <a:avLst/>
          </a:prstGeom>
          <a:noFill/>
          <a:ln/>
        </p:spPr>
        <p:txBody>
          <a:bodyPr wrap="square" lIns="0" tIns="0" rIns="0" bIns="0" rtlCol="0" anchor="ctr"/>
          <a:lstStyle/>
          <a:p>
            <a:pPr marL="0" indent="0" algn="ctr">
              <a:buNone/>
            </a:pPr>
            <a:r>
              <a:rPr lang="en-US" sz="1100" i="1" dirty="0">
                <a:solidFill>
                  <a:schemeClr val="accent6"/>
                </a:solidFill>
              </a:rPr>
              <a:t>Temperature and oxygen vs pressure, two casts</a:t>
            </a:r>
            <a:endParaRPr lang="en-US" sz="1100" dirty="0"/>
          </a:p>
        </p:txBody>
      </p:sp>
      <p:sp>
        <p:nvSpPr>
          <p:cNvPr id="8" name="Shape 5"/>
          <p:cNvSpPr/>
          <p:nvPr/>
        </p:nvSpPr>
        <p:spPr>
          <a:xfrm>
            <a:off x="4526280" y="3794760"/>
            <a:ext cx="4160520" cy="731520"/>
          </a:xfrm>
          <a:prstGeom prst="roundRect">
            <a:avLst>
              <a:gd name="adj" fmla="val 12500"/>
            </a:avLst>
          </a:prstGeom>
          <a:solidFill>
            <a:schemeClr val="accent1"/>
          </a:solidFill>
          <a:ln w="12700">
            <a:solidFill>
              <a:schemeClr val="accent1"/>
            </a:solidFill>
            <a:prstDash val="solid"/>
          </a:ln>
        </p:spPr>
        <p:txBody>
          <a:bodyPr/>
          <a:lstStyle/>
          <a:p>
            <a:endParaRPr lang="en-US"/>
          </a:p>
        </p:txBody>
      </p:sp>
      <p:sp>
        <p:nvSpPr>
          <p:cNvPr id="9" name="delay stat"/>
          <p:cNvSpPr txBox="1"/>
          <p:nvPr/>
        </p:nvSpPr>
        <p:spPr>
          <a:xfrm>
            <a:off x="4526280" y="3794760"/>
            <a:ext cx="4160520" cy="731520"/>
          </a:xfrm>
          <a:prstGeom prst="rect">
            <a:avLst/>
          </a:prstGeom>
          <a:noFill/>
          <a:ln/>
        </p:spPr>
        <p:txBody>
          <a:bodyPr wrap="square" lIns="0" tIns="0" rIns="0" bIns="0" rtlCol="0" anchor="ctr"/>
          <a:lstStyle/>
          <a:p>
            <a:pPr marL="0" indent="0" algn="ctr">
              <a:buNone/>
            </a:pPr>
            <a:r>
              <a:rPr lang="en-US" sz="2400" b="1" dirty="0">
                <a:solidFill>
                  <a:schemeClr val="bg1"/>
                </a:solidFill>
              </a:rPr>
              <a:t>~4 s </a:t>
            </a:r>
            <a:r>
              <a:rPr lang="en-US" sz="1400" dirty="0">
                <a:solidFill>
                  <a:schemeClr val="bg1"/>
                </a:solidFill>
              </a:rPr>
              <a:t>typical total oxygen delay</a:t>
            </a:r>
            <a:endParaRPr lang="en-US" sz="2400" dirty="0"/>
          </a:p>
        </p:txBody>
      </p:sp>
      <p:sp>
        <p:nvSpPr>
          <p:cNvPr id="10" name="source note"/>
          <p:cNvSpPr txBox="1"/>
          <p:nvPr/>
        </p:nvSpPr>
        <p:spPr>
          <a:xfrm>
            <a:off x="3474720" y="4754880"/>
            <a:ext cx="4663440" cy="274320"/>
          </a:xfrm>
          <a:prstGeom prst="rect">
            <a:avLst/>
          </a:prstGeom>
          <a:noFill/>
          <a:ln/>
        </p:spPr>
        <p:txBody>
          <a:bodyPr wrap="square" lIns="0" tIns="0" rIns="0" bIns="0" rtlCol="0" anchor="ctr"/>
          <a:lstStyle/>
          <a:p>
            <a:pPr marL="0" indent="0" algn="r">
              <a:buNone/>
            </a:pPr>
            <a:r>
              <a:rPr lang="en-US" sz="900" dirty="0">
                <a:solidFill>
                  <a:schemeClr val="accent6"/>
                </a:solidFill>
              </a:rPr>
              <a:t>Figure: Sea-Bird Scientific, SBE Data Processing training, Module 9</a:t>
            </a:r>
            <a:endParaRPr lang="en-US" sz="9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594360"/>
          </a:xfrm>
          <a:prstGeom prst="rect">
            <a:avLst/>
          </a:prstGeom>
          <a:noFill/>
          <a:ln/>
        </p:spPr>
        <p:txBody>
          <a:bodyPr wrap="square" lIns="0" tIns="0" rIns="0" bIns="0" rtlCol="0" anchor="ctr"/>
          <a:lstStyle/>
          <a:p>
            <a:pPr marL="0" indent="0" algn="l">
              <a:buNone/>
            </a:pPr>
            <a:r>
              <a:rPr lang="en-US" sz="3200" b="1" dirty="0">
                <a:solidFill>
                  <a:schemeClr val="tx1"/>
                </a:solidFill>
              </a:rPr>
              <a:t>Hysteresis or a Real Feature?</a:t>
            </a:r>
            <a:endParaRPr lang="en-US" sz="3200" dirty="0"/>
          </a:p>
        </p:txBody>
      </p:sp>
      <p:sp>
        <p:nvSpPr>
          <p:cNvPr id="3" name="tagline"/>
          <p:cNvSpPr txBox="1"/>
          <p:nvPr/>
        </p:nvSpPr>
        <p:spPr>
          <a:xfrm>
            <a:off x="457200" y="896112"/>
            <a:ext cx="8229600" cy="292608"/>
          </a:xfrm>
          <a:prstGeom prst="rect">
            <a:avLst/>
          </a:prstGeom>
          <a:noFill/>
          <a:ln/>
        </p:spPr>
        <p:txBody>
          <a:bodyPr wrap="square" lIns="0" tIns="0" rIns="0" bIns="0" rtlCol="0" anchor="ctr"/>
          <a:lstStyle/>
          <a:p>
            <a:pPr marL="0" indent="0">
              <a:buNone/>
            </a:pPr>
            <a:r>
              <a:rPr lang="en-US" sz="1500" i="1" dirty="0">
                <a:solidFill>
                  <a:schemeClr val="accent1"/>
                </a:solidFill>
              </a:rPr>
              <a:t>Check before you shift the oxygen data</a:t>
            </a:r>
            <a:endParaRPr lang="en-US" sz="1500" dirty="0"/>
          </a:p>
        </p:txBody>
      </p:sp>
      <p:sp>
        <p:nvSpPr>
          <p:cNvPr id="4" name="bullets"/>
          <p:cNvSpPr txBox="1"/>
          <p:nvPr/>
        </p:nvSpPr>
        <p:spPr>
          <a:xfrm>
            <a:off x="457200" y="1417320"/>
            <a:ext cx="3840480" cy="3108960"/>
          </a:xfrm>
          <a:prstGeom prst="rect">
            <a:avLst/>
          </a:prstGeom>
          <a:noFill/>
          <a:ln/>
        </p:spPr>
        <p:txBody>
          <a:bodyPr wrap="square" lIns="0" tIns="0" rIns="0" bIns="0" rtlCol="0" anchor="t"/>
          <a:lstStyle/>
          <a:p>
            <a:pPr marL="342900" indent="-342900">
              <a:spcAft>
                <a:spcPts val="700"/>
              </a:spcAft>
              <a:buSzPct val="100000"/>
              <a:buChar char="•"/>
            </a:pPr>
            <a:r>
              <a:rPr lang="en-US" sz="1300" dirty="0">
                <a:solidFill>
                  <a:schemeClr val="tx1"/>
                </a:solidFill>
              </a:rPr>
              <a:t>Hysteresis is easy to see in pressure vs oxygen profiles</a:t>
            </a:r>
            <a:endParaRPr lang="en-US" sz="1300" dirty="0"/>
          </a:p>
          <a:p>
            <a:pPr marL="342900" indent="-342900">
              <a:spcAft>
                <a:spcPts val="700"/>
              </a:spcAft>
              <a:buSzPct val="100000"/>
              <a:buChar char="•"/>
            </a:pPr>
            <a:r>
              <a:rPr lang="en-US" sz="1300" dirty="0">
                <a:solidFill>
                  <a:schemeClr val="tx1"/>
                </a:solidFill>
              </a:rPr>
              <a:t>But real ocean features can look the same: a drifting ship near the Gulf Stream sampled a feature at different depths on down and upcast</a:t>
            </a:r>
            <a:endParaRPr lang="en-US" sz="1300" dirty="0"/>
          </a:p>
          <a:p>
            <a:pPr marL="342900" indent="-342900">
              <a:spcAft>
                <a:spcPts val="700"/>
              </a:spcAft>
              <a:buSzPct val="100000"/>
              <a:buChar char="•"/>
            </a:pPr>
            <a:r>
              <a:rPr lang="en-US" sz="1300" dirty="0">
                <a:solidFill>
                  <a:schemeClr val="tx1"/>
                </a:solidFill>
              </a:rPr>
              <a:t>Plot oxygen vs temperature to tell the two apart</a:t>
            </a:r>
            <a:endParaRPr lang="en-US" sz="1300" dirty="0"/>
          </a:p>
          <a:p>
            <a:pPr marL="342900" indent="-342900">
              <a:spcAft>
                <a:spcPts val="700"/>
              </a:spcAft>
              <a:buSzPct val="100000"/>
              <a:buChar char="•"/>
            </a:pPr>
            <a:r>
              <a:rPr lang="en-US" sz="1300" dirty="0">
                <a:solidFill>
                  <a:schemeClr val="tx1"/>
                </a:solidFill>
              </a:rPr>
              <a:t>Hydrographic phenomena should not be removed by data manipulation</a:t>
            </a:r>
            <a:endParaRPr lang="en-US" sz="1300" dirty="0"/>
          </a:p>
        </p:txBody>
      </p:sp>
      <p:sp>
        <p:nvSpPr>
          <p:cNvPr id="5" name="Oxygen vs temperature frame"/>
          <p:cNvSpPr/>
          <p:nvPr/>
        </p:nvSpPr>
        <p:spPr>
          <a:xfrm>
            <a:off x="4507992" y="1828441"/>
            <a:ext cx="4197096" cy="1738077"/>
          </a:xfrm>
          <a:prstGeom prst="rect">
            <a:avLst/>
          </a:prstGeom>
          <a:solidFill>
            <a:schemeClr val="bg1"/>
          </a:solidFill>
          <a:ln w="9525">
            <a:solidFill>
              <a:schemeClr val="accent5"/>
            </a:solidFill>
            <a:prstDash val="solid"/>
          </a:ln>
        </p:spPr>
        <p:txBody>
          <a:bodyPr/>
          <a:lstStyle/>
          <a:p>
            <a:endParaRPr lang="en-US"/>
          </a:p>
        </p:txBody>
      </p:sp>
      <p:pic>
        <p:nvPicPr>
          <p:cNvPr id="6" name="Oxygen vs temperature" descr="Oxygen vs temperature"/>
          <p:cNvPicPr>
            <a:picLocks noChangeAspect="1"/>
          </p:cNvPicPr>
          <p:nvPr/>
        </p:nvPicPr>
        <p:blipFill>
          <a:blip r:embed="rId3"/>
          <a:stretch>
            <a:fillRect/>
          </a:stretch>
        </p:blipFill>
        <p:spPr>
          <a:xfrm>
            <a:off x="4526280" y="1846729"/>
            <a:ext cx="4160520" cy="1701501"/>
          </a:xfrm>
          <a:prstGeom prst="rect">
            <a:avLst/>
          </a:prstGeom>
        </p:spPr>
      </p:pic>
      <p:sp>
        <p:nvSpPr>
          <p:cNvPr id="7" name="caption"/>
          <p:cNvSpPr txBox="1"/>
          <p:nvPr/>
        </p:nvSpPr>
        <p:spPr>
          <a:xfrm>
            <a:off x="4526280" y="3603095"/>
            <a:ext cx="4160520" cy="274320"/>
          </a:xfrm>
          <a:prstGeom prst="rect">
            <a:avLst/>
          </a:prstGeom>
          <a:noFill/>
          <a:ln/>
        </p:spPr>
        <p:txBody>
          <a:bodyPr wrap="square" lIns="0" tIns="0" rIns="0" bIns="0" rtlCol="0" anchor="ctr"/>
          <a:lstStyle/>
          <a:p>
            <a:pPr marL="0" indent="0" algn="ctr">
              <a:buNone/>
            </a:pPr>
            <a:r>
              <a:rPr lang="en-US" sz="1100" i="1" dirty="0">
                <a:solidFill>
                  <a:schemeClr val="accent6"/>
                </a:solidFill>
              </a:rPr>
              <a:t>Oxygen vs temperature plots for two casts</a:t>
            </a:r>
            <a:endParaRPr lang="en-US" sz="1100" dirty="0"/>
          </a:p>
        </p:txBody>
      </p:sp>
      <p:sp>
        <p:nvSpPr>
          <p:cNvPr id="8" name="source note"/>
          <p:cNvSpPr txBox="1"/>
          <p:nvPr/>
        </p:nvSpPr>
        <p:spPr>
          <a:xfrm>
            <a:off x="3474720" y="4754880"/>
            <a:ext cx="4663440" cy="274320"/>
          </a:xfrm>
          <a:prstGeom prst="rect">
            <a:avLst/>
          </a:prstGeom>
          <a:noFill/>
          <a:ln/>
        </p:spPr>
        <p:txBody>
          <a:bodyPr wrap="square" lIns="0" tIns="0" rIns="0" bIns="0" rtlCol="0" anchor="ctr"/>
          <a:lstStyle/>
          <a:p>
            <a:pPr marL="0" indent="0" algn="r">
              <a:buNone/>
            </a:pPr>
            <a:r>
              <a:rPr lang="en-US" sz="900" dirty="0">
                <a:solidFill>
                  <a:schemeClr val="accent6"/>
                </a:solidFill>
              </a:rPr>
              <a:t>Figure: Sea-Bird Scientific, SBE Data Processing training, Module 9</a:t>
            </a:r>
            <a:endParaRPr lang="en-US" sz="9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594360"/>
          </a:xfrm>
          <a:prstGeom prst="rect">
            <a:avLst/>
          </a:prstGeom>
          <a:noFill/>
          <a:ln/>
        </p:spPr>
        <p:txBody>
          <a:bodyPr wrap="square" lIns="0" tIns="0" rIns="0" bIns="0" rtlCol="0" anchor="ctr"/>
          <a:lstStyle/>
          <a:p>
            <a:pPr marL="0" indent="0" algn="l">
              <a:buNone/>
            </a:pPr>
            <a:r>
              <a:rPr lang="en-US" sz="3200" b="1" dirty="0">
                <a:solidFill>
                  <a:schemeClr val="tx1"/>
                </a:solidFill>
              </a:rPr>
              <a:t>Oxygen Alignment Experiment</a:t>
            </a:r>
            <a:endParaRPr lang="en-US" sz="3200" dirty="0"/>
          </a:p>
        </p:txBody>
      </p:sp>
      <p:sp>
        <p:nvSpPr>
          <p:cNvPr id="3" name="tagline"/>
          <p:cNvSpPr txBox="1"/>
          <p:nvPr/>
        </p:nvSpPr>
        <p:spPr>
          <a:xfrm>
            <a:off x="457200" y="896112"/>
            <a:ext cx="8229600" cy="292608"/>
          </a:xfrm>
          <a:prstGeom prst="rect">
            <a:avLst/>
          </a:prstGeom>
          <a:noFill/>
          <a:ln/>
        </p:spPr>
        <p:txBody>
          <a:bodyPr wrap="square" lIns="0" tIns="0" rIns="0" bIns="0" rtlCol="0" anchor="ctr"/>
          <a:lstStyle/>
          <a:p>
            <a:pPr marL="0" indent="0">
              <a:buNone/>
            </a:pPr>
            <a:r>
              <a:rPr lang="en-US" sz="1500" i="1" dirty="0">
                <a:solidFill>
                  <a:schemeClr val="accent1"/>
                </a:solidFill>
              </a:rPr>
              <a:t>experiment_O_delays.sh tests several values at once</a:t>
            </a:r>
            <a:endParaRPr lang="en-US" sz="1500" dirty="0"/>
          </a:p>
        </p:txBody>
      </p:sp>
      <p:sp>
        <p:nvSpPr>
          <p:cNvPr id="4" name="Shape 2"/>
          <p:cNvSpPr/>
          <p:nvPr/>
        </p:nvSpPr>
        <p:spPr>
          <a:xfrm>
            <a:off x="457200" y="1371600"/>
            <a:ext cx="4114800" cy="457200"/>
          </a:xfrm>
          <a:prstGeom prst="roundRect">
            <a:avLst>
              <a:gd name="adj" fmla="val 16000"/>
            </a:avLst>
          </a:prstGeom>
          <a:solidFill>
            <a:schemeClr val="tx1"/>
          </a:solidFill>
          <a:ln w="12700">
            <a:solidFill>
              <a:schemeClr val="tx1"/>
            </a:solidFill>
            <a:prstDash val="solid"/>
          </a:ln>
        </p:spPr>
        <p:txBody>
          <a:bodyPr/>
          <a:lstStyle/>
          <a:p>
            <a:endParaRPr lang="en-US"/>
          </a:p>
        </p:txBody>
      </p:sp>
      <p:sp>
        <p:nvSpPr>
          <p:cNvPr id="5" name="command"/>
          <p:cNvSpPr txBox="1"/>
          <p:nvPr/>
        </p:nvSpPr>
        <p:spPr>
          <a:xfrm>
            <a:off x="566928" y="1371600"/>
            <a:ext cx="3895344" cy="457200"/>
          </a:xfrm>
          <a:prstGeom prst="rect">
            <a:avLst/>
          </a:prstGeom>
          <a:noFill/>
          <a:ln/>
        </p:spPr>
        <p:txBody>
          <a:bodyPr wrap="square" lIns="0" tIns="0" rIns="0" bIns="0" rtlCol="0" anchor="ctr"/>
          <a:lstStyle/>
          <a:p>
            <a:pPr marL="0" indent="0">
              <a:buNone/>
            </a:pPr>
            <a:r>
              <a:rPr lang="en-US" sz="950" dirty="0">
                <a:solidFill>
                  <a:schemeClr val="bg1"/>
                </a:solidFill>
                <a:latin typeface="Consolas" pitchFamily="34" charset="0"/>
                <a:ea typeface="Consolas" pitchFamily="34" charset="-122"/>
                <a:cs typeface="Consolas" pitchFamily="34" charset="-120"/>
              </a:rPr>
              <a:t>bash experiment_O_delays.sh &lt;cruise&gt; [start end n]</a:t>
            </a:r>
            <a:endParaRPr lang="en-US" sz="950" dirty="0"/>
          </a:p>
        </p:txBody>
      </p:sp>
      <p:sp>
        <p:nvSpPr>
          <p:cNvPr id="6" name="bullets"/>
          <p:cNvSpPr txBox="1"/>
          <p:nvPr/>
        </p:nvSpPr>
        <p:spPr>
          <a:xfrm>
            <a:off x="457198" y="2057400"/>
            <a:ext cx="4286251" cy="2468880"/>
          </a:xfrm>
          <a:prstGeom prst="rect">
            <a:avLst/>
          </a:prstGeom>
          <a:noFill/>
          <a:ln/>
        </p:spPr>
        <p:txBody>
          <a:bodyPr wrap="square" lIns="0" tIns="0" rIns="0" bIns="0" rtlCol="0" anchor="t"/>
          <a:lstStyle/>
          <a:p>
            <a:pPr marL="342900" indent="-342900">
              <a:spcAft>
                <a:spcPts val="700"/>
              </a:spcAft>
              <a:buSzPct val="100000"/>
              <a:buChar char="•"/>
            </a:pPr>
            <a:r>
              <a:rPr lang="en-US" sz="1300" dirty="0">
                <a:solidFill>
                  <a:schemeClr val="tx1"/>
                </a:solidFill>
              </a:rPr>
              <a:t>Default: 5 values from 2 to 6 s; SBE911Plus default is 3.5 s</a:t>
            </a:r>
            <a:endParaRPr lang="en-US" sz="1300" dirty="0"/>
          </a:p>
          <a:p>
            <a:pPr marL="342900" indent="-342900">
              <a:spcAft>
                <a:spcPts val="700"/>
              </a:spcAft>
              <a:buSzPct val="100000"/>
              <a:buChar char="•"/>
            </a:pPr>
            <a:r>
              <a:rPr lang="en-US" sz="1300" dirty="0">
                <a:solidFill>
                  <a:schemeClr val="tx1"/>
                </a:solidFill>
              </a:rPr>
              <a:t>Reads UPDOWN/01-cnv, so run Convert there for all casts first</a:t>
            </a:r>
            <a:endParaRPr lang="en-US" sz="1300" dirty="0"/>
          </a:p>
          <a:p>
            <a:pPr marL="342900" indent="-342900">
              <a:spcAft>
                <a:spcPts val="700"/>
              </a:spcAft>
              <a:buSzPct val="100000"/>
              <a:buChar char="•"/>
            </a:pPr>
            <a:r>
              <a:rPr lang="en-US" sz="1300" dirty="0">
                <a:solidFill>
                  <a:schemeClr val="tx1"/>
                </a:solidFill>
              </a:rPr>
              <a:t>One folder per value in ALIGN_O/OUT/</a:t>
            </a:r>
            <a:endParaRPr lang="en-US" sz="1300" dirty="0"/>
          </a:p>
          <a:p>
            <a:pPr marL="342900" indent="-342900">
              <a:spcAft>
                <a:spcPts val="700"/>
              </a:spcAft>
              <a:buSzPct val="100000"/>
              <a:buChar char="•"/>
            </a:pPr>
            <a:r>
              <a:rPr lang="en-US" sz="1300" dirty="0">
                <a:solidFill>
                  <a:schemeClr val="tx1"/>
                </a:solidFill>
              </a:rPr>
              <a:t>Same requirements as the conductivity script</a:t>
            </a:r>
            <a:endParaRPr lang="en-US" sz="1300" dirty="0"/>
          </a:p>
        </p:txBody>
      </p:sp>
      <p:sp>
        <p:nvSpPr>
          <p:cNvPr id="7" name="Oxygen advanced 0, 2, 4, 6 seconds frame"/>
          <p:cNvSpPr/>
          <p:nvPr/>
        </p:nvSpPr>
        <p:spPr>
          <a:xfrm>
            <a:off x="4828032" y="1528572"/>
            <a:ext cx="3877056" cy="2612136"/>
          </a:xfrm>
          <a:prstGeom prst="rect">
            <a:avLst/>
          </a:prstGeom>
          <a:solidFill>
            <a:schemeClr val="bg1"/>
          </a:solidFill>
          <a:ln w="9525">
            <a:solidFill>
              <a:schemeClr val="accent5"/>
            </a:solidFill>
            <a:prstDash val="solid"/>
          </a:ln>
        </p:spPr>
        <p:txBody>
          <a:bodyPr/>
          <a:lstStyle/>
          <a:p>
            <a:endParaRPr lang="en-US"/>
          </a:p>
        </p:txBody>
      </p:sp>
      <p:pic>
        <p:nvPicPr>
          <p:cNvPr id="8" name="Oxygen advanced 0, 2, 4, 6 seconds" descr="Oxygen advanced 0, 2, 4, 6 seconds"/>
          <p:cNvPicPr>
            <a:picLocks noChangeAspect="1"/>
          </p:cNvPicPr>
          <p:nvPr/>
        </p:nvPicPr>
        <p:blipFill>
          <a:blip r:embed="rId3"/>
          <a:stretch>
            <a:fillRect/>
          </a:stretch>
        </p:blipFill>
        <p:spPr>
          <a:xfrm>
            <a:off x="4846320" y="1546860"/>
            <a:ext cx="3840480" cy="2575560"/>
          </a:xfrm>
          <a:prstGeom prst="rect">
            <a:avLst/>
          </a:prstGeom>
        </p:spPr>
      </p:pic>
      <p:sp>
        <p:nvSpPr>
          <p:cNvPr id="9" name="caption"/>
          <p:cNvSpPr txBox="1"/>
          <p:nvPr/>
        </p:nvSpPr>
        <p:spPr>
          <a:xfrm>
            <a:off x="4846320" y="4177284"/>
            <a:ext cx="3840480" cy="274320"/>
          </a:xfrm>
          <a:prstGeom prst="rect">
            <a:avLst/>
          </a:prstGeom>
          <a:noFill/>
          <a:ln/>
        </p:spPr>
        <p:txBody>
          <a:bodyPr wrap="square" lIns="0" tIns="0" rIns="0" bIns="0" rtlCol="0" anchor="ctr"/>
          <a:lstStyle/>
          <a:p>
            <a:pPr marL="0" indent="0" algn="ctr">
              <a:buNone/>
            </a:pPr>
            <a:r>
              <a:rPr lang="en-US" sz="1100" i="1" dirty="0">
                <a:solidFill>
                  <a:schemeClr val="accent6"/>
                </a:solidFill>
              </a:rPr>
              <a:t>Oxygen advanced 0, 2, 4, 6 s relative to pressure</a:t>
            </a:r>
            <a:endParaRPr lang="en-US" sz="1100" dirty="0"/>
          </a:p>
        </p:txBody>
      </p:sp>
      <p:sp>
        <p:nvSpPr>
          <p:cNvPr id="10" name="source note"/>
          <p:cNvSpPr txBox="1"/>
          <p:nvPr/>
        </p:nvSpPr>
        <p:spPr>
          <a:xfrm>
            <a:off x="3474720" y="4754880"/>
            <a:ext cx="4663440" cy="274320"/>
          </a:xfrm>
          <a:prstGeom prst="rect">
            <a:avLst/>
          </a:prstGeom>
          <a:noFill/>
          <a:ln/>
        </p:spPr>
        <p:txBody>
          <a:bodyPr wrap="square" lIns="0" tIns="0" rIns="0" bIns="0" rtlCol="0" anchor="ctr"/>
          <a:lstStyle/>
          <a:p>
            <a:pPr marL="0" indent="0" algn="r">
              <a:buNone/>
            </a:pPr>
            <a:r>
              <a:rPr lang="en-US" sz="900" dirty="0">
                <a:solidFill>
                  <a:schemeClr val="accent6"/>
                </a:solidFill>
              </a:rPr>
              <a:t>Figure: Sea-Bird Scientific, SBE Data Processing training, Module 9</a:t>
            </a:r>
            <a:endParaRPr lang="en-US" sz="9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594360"/>
          </a:xfrm>
          <a:prstGeom prst="rect">
            <a:avLst/>
          </a:prstGeom>
          <a:noFill/>
          <a:ln/>
        </p:spPr>
        <p:txBody>
          <a:bodyPr wrap="square" lIns="0" tIns="0" rIns="0" bIns="0" rtlCol="0" anchor="ctr"/>
          <a:lstStyle/>
          <a:p>
            <a:pPr marL="0" indent="0" algn="l">
              <a:buNone/>
            </a:pPr>
            <a:r>
              <a:rPr lang="en-US" sz="3200" b="1" dirty="0">
                <a:solidFill>
                  <a:schemeClr val="tx1"/>
                </a:solidFill>
              </a:rPr>
              <a:t>Review Results: plot_alignment.py</a:t>
            </a:r>
            <a:endParaRPr lang="en-US" sz="3200" dirty="0"/>
          </a:p>
        </p:txBody>
      </p:sp>
      <p:sp>
        <p:nvSpPr>
          <p:cNvPr id="3" name="tagline"/>
          <p:cNvSpPr txBox="1"/>
          <p:nvPr/>
        </p:nvSpPr>
        <p:spPr>
          <a:xfrm>
            <a:off x="457200" y="896112"/>
            <a:ext cx="8229600" cy="292608"/>
          </a:xfrm>
          <a:prstGeom prst="rect">
            <a:avLst/>
          </a:prstGeom>
          <a:noFill/>
          <a:ln/>
        </p:spPr>
        <p:txBody>
          <a:bodyPr wrap="square" lIns="0" tIns="0" rIns="0" bIns="0" rtlCol="0" anchor="ctr"/>
          <a:lstStyle/>
          <a:p>
            <a:pPr marL="0" indent="0">
              <a:buNone/>
            </a:pPr>
            <a:r>
              <a:rPr lang="en-US" sz="1500" i="1" dirty="0">
                <a:solidFill>
                  <a:schemeClr val="accent1"/>
                </a:solidFill>
              </a:rPr>
              <a:t>Compare every tested value side by side</a:t>
            </a:r>
            <a:endParaRPr lang="en-US" sz="1500" dirty="0"/>
          </a:p>
        </p:txBody>
      </p:sp>
      <p:sp>
        <p:nvSpPr>
          <p:cNvPr id="4" name="bullets"/>
          <p:cNvSpPr txBox="1"/>
          <p:nvPr/>
        </p:nvSpPr>
        <p:spPr>
          <a:xfrm>
            <a:off x="457200" y="1417320"/>
            <a:ext cx="4572000" cy="3108960"/>
          </a:xfrm>
          <a:prstGeom prst="rect">
            <a:avLst/>
          </a:prstGeom>
          <a:noFill/>
          <a:ln/>
        </p:spPr>
        <p:txBody>
          <a:bodyPr wrap="square" lIns="0" tIns="0" rIns="0" bIns="0" rtlCol="0" anchor="t"/>
          <a:lstStyle/>
          <a:p>
            <a:pPr marL="342900" indent="-342900">
              <a:spcAft>
                <a:spcPts val="700"/>
              </a:spcAft>
              <a:buSzPct val="100000"/>
              <a:buChar char="•"/>
            </a:pPr>
            <a:r>
              <a:rPr lang="en-US" sz="1500" dirty="0">
                <a:solidFill>
                  <a:schemeClr val="tx1"/>
                </a:solidFill>
              </a:rPr>
              <a:t>Finds .cnv files in OUT/*/06-drv for each tested value</a:t>
            </a:r>
            <a:endParaRPr lang="en-US" sz="1500" dirty="0"/>
          </a:p>
          <a:p>
            <a:pPr marL="342900" indent="-342900">
              <a:spcAft>
                <a:spcPts val="700"/>
              </a:spcAft>
              <a:buSzPct val="100000"/>
              <a:buChar char="•"/>
            </a:pPr>
            <a:r>
              <a:rPr lang="en-US" sz="1500" dirty="0">
                <a:solidFill>
                  <a:schemeClr val="tx1"/>
                </a:solidFill>
              </a:rPr>
              <a:t>One interactive pressure profile per alignment folder</a:t>
            </a:r>
            <a:endParaRPr lang="en-US" sz="1500" dirty="0"/>
          </a:p>
          <a:p>
            <a:pPr marL="342900" indent="-342900">
              <a:spcAft>
                <a:spcPts val="700"/>
              </a:spcAft>
              <a:buSzPct val="100000"/>
              <a:buChar char="•"/>
            </a:pPr>
            <a:r>
              <a:rPr lang="en-US" sz="1500" dirty="0">
                <a:solidFill>
                  <a:schemeClr val="tx1"/>
                </a:solidFill>
              </a:rPr>
              <a:t>Same file, scan-discard, and variable choices apply to every plot</a:t>
            </a:r>
            <a:endParaRPr lang="en-US" sz="1500" dirty="0"/>
          </a:p>
          <a:p>
            <a:pPr marL="342900" indent="-342900">
              <a:spcAft>
                <a:spcPts val="700"/>
              </a:spcAft>
              <a:buSzPct val="100000"/>
              <a:buChar char="•"/>
            </a:pPr>
            <a:r>
              <a:rPr lang="en-US" sz="1500" dirty="0">
                <a:solidFill>
                  <a:schemeClr val="tx1"/>
                </a:solidFill>
              </a:rPr>
              <a:t>Opens in your browser at http://127.0.0.1:8050</a:t>
            </a:r>
            <a:endParaRPr lang="en-US" sz="1500" dirty="0"/>
          </a:p>
        </p:txBody>
      </p:sp>
      <p:sp>
        <p:nvSpPr>
          <p:cNvPr id="5" name="Shape 3"/>
          <p:cNvSpPr/>
          <p:nvPr/>
        </p:nvSpPr>
        <p:spPr>
          <a:xfrm>
            <a:off x="5303520" y="1417320"/>
            <a:ext cx="3383280" cy="548640"/>
          </a:xfrm>
          <a:prstGeom prst="roundRect">
            <a:avLst>
              <a:gd name="adj" fmla="val 13333"/>
            </a:avLst>
          </a:prstGeom>
          <a:solidFill>
            <a:schemeClr val="tx1"/>
          </a:solidFill>
          <a:ln w="12700">
            <a:solidFill>
              <a:schemeClr val="tx1"/>
            </a:solidFill>
            <a:prstDash val="solid"/>
          </a:ln>
        </p:spPr>
        <p:txBody>
          <a:bodyPr/>
          <a:lstStyle/>
          <a:p>
            <a:endParaRPr lang="en-US"/>
          </a:p>
        </p:txBody>
      </p:sp>
      <p:sp>
        <p:nvSpPr>
          <p:cNvPr id="6" name="command"/>
          <p:cNvSpPr txBox="1"/>
          <p:nvPr/>
        </p:nvSpPr>
        <p:spPr>
          <a:xfrm>
            <a:off x="5413248" y="1417320"/>
            <a:ext cx="3163824" cy="548640"/>
          </a:xfrm>
          <a:prstGeom prst="rect">
            <a:avLst/>
          </a:prstGeom>
          <a:noFill/>
          <a:ln/>
        </p:spPr>
        <p:txBody>
          <a:bodyPr wrap="square" lIns="0" tIns="0" rIns="0" bIns="0" rtlCol="0" anchor="ctr"/>
          <a:lstStyle/>
          <a:p>
            <a:pPr marL="0" indent="0">
              <a:buNone/>
            </a:pPr>
            <a:r>
              <a:rPr lang="en-US" sz="900" dirty="0">
                <a:solidFill>
                  <a:schemeClr val="bg1"/>
                </a:solidFill>
                <a:latin typeface="Consolas" pitchFamily="34" charset="0"/>
                <a:ea typeface="Consolas" pitchFamily="34" charset="-122"/>
                <a:cs typeface="Consolas" pitchFamily="34" charset="-120"/>
              </a:rPr>
              <a:t>python plot_alignment.py "&lt;alignment-root&gt;"</a:t>
            </a:r>
            <a:endParaRPr lang="en-US" sz="900" dirty="0"/>
          </a:p>
        </p:txBody>
      </p:sp>
      <p:sp>
        <p:nvSpPr>
          <p:cNvPr id="7" name="Shape 5"/>
          <p:cNvSpPr/>
          <p:nvPr/>
        </p:nvSpPr>
        <p:spPr>
          <a:xfrm>
            <a:off x="5303520" y="2194560"/>
            <a:ext cx="3383280" cy="475488"/>
          </a:xfrm>
          <a:prstGeom prst="roundRect">
            <a:avLst>
              <a:gd name="adj" fmla="val 19231"/>
            </a:avLst>
          </a:prstGeom>
          <a:solidFill>
            <a:schemeClr val="bg2"/>
          </a:solidFill>
          <a:ln w="12700">
            <a:solidFill>
              <a:schemeClr val="bg2"/>
            </a:solidFill>
            <a:prstDash val="solid"/>
          </a:ln>
        </p:spPr>
        <p:txBody>
          <a:bodyPr/>
          <a:lstStyle/>
          <a:p>
            <a:endParaRPr lang="en-US"/>
          </a:p>
        </p:txBody>
      </p:sp>
      <p:sp>
        <p:nvSpPr>
          <p:cNvPr id="8" name="control 0"/>
          <p:cNvSpPr txBox="1"/>
          <p:nvPr/>
        </p:nvSpPr>
        <p:spPr>
          <a:xfrm>
            <a:off x="5440680" y="2194560"/>
            <a:ext cx="3108960" cy="475488"/>
          </a:xfrm>
          <a:prstGeom prst="rect">
            <a:avLst/>
          </a:prstGeom>
          <a:noFill/>
          <a:ln/>
        </p:spPr>
        <p:txBody>
          <a:bodyPr wrap="square" lIns="0" tIns="0" rIns="0" bIns="0" rtlCol="0" anchor="ctr"/>
          <a:lstStyle/>
          <a:p>
            <a:pPr marL="0" indent="0">
              <a:buNone/>
            </a:pPr>
            <a:r>
              <a:rPr lang="en-US" sz="1300" dirty="0">
                <a:solidFill>
                  <a:schemeClr val="tx1"/>
                </a:solidFill>
              </a:rPr>
              <a:t>1  Pick one CNV file name</a:t>
            </a:r>
            <a:endParaRPr lang="en-US" sz="1300" dirty="0"/>
          </a:p>
        </p:txBody>
      </p:sp>
      <p:sp>
        <p:nvSpPr>
          <p:cNvPr id="9" name="Shape 7"/>
          <p:cNvSpPr/>
          <p:nvPr/>
        </p:nvSpPr>
        <p:spPr>
          <a:xfrm>
            <a:off x="5303520" y="2779776"/>
            <a:ext cx="3383280" cy="475488"/>
          </a:xfrm>
          <a:prstGeom prst="roundRect">
            <a:avLst>
              <a:gd name="adj" fmla="val 19231"/>
            </a:avLst>
          </a:prstGeom>
          <a:solidFill>
            <a:schemeClr val="bg2"/>
          </a:solidFill>
          <a:ln w="12700">
            <a:solidFill>
              <a:schemeClr val="bg2"/>
            </a:solidFill>
            <a:prstDash val="solid"/>
          </a:ln>
        </p:spPr>
        <p:txBody>
          <a:bodyPr/>
          <a:lstStyle/>
          <a:p>
            <a:endParaRPr lang="en-US"/>
          </a:p>
        </p:txBody>
      </p:sp>
      <p:sp>
        <p:nvSpPr>
          <p:cNvPr id="10" name="control 1"/>
          <p:cNvSpPr txBox="1"/>
          <p:nvPr/>
        </p:nvSpPr>
        <p:spPr>
          <a:xfrm>
            <a:off x="5440680" y="2779776"/>
            <a:ext cx="3108960" cy="475488"/>
          </a:xfrm>
          <a:prstGeom prst="rect">
            <a:avLst/>
          </a:prstGeom>
          <a:noFill/>
          <a:ln/>
        </p:spPr>
        <p:txBody>
          <a:bodyPr wrap="square" lIns="0" tIns="0" rIns="0" bIns="0" rtlCol="0" anchor="ctr"/>
          <a:lstStyle/>
          <a:p>
            <a:pPr marL="0" indent="0">
              <a:buNone/>
            </a:pPr>
            <a:r>
              <a:rPr lang="en-US" sz="1300" dirty="0">
                <a:solidFill>
                  <a:schemeClr val="tx1"/>
                </a:solidFill>
              </a:rPr>
              <a:t>2  Choose </a:t>
            </a:r>
            <a:r>
              <a:rPr lang="en-US" sz="1300">
                <a:solidFill>
                  <a:schemeClr val="tx1"/>
                </a:solidFill>
              </a:rPr>
              <a:t># of initial </a:t>
            </a:r>
            <a:r>
              <a:rPr lang="en-US" sz="1300" dirty="0">
                <a:solidFill>
                  <a:schemeClr val="tx1"/>
                </a:solidFill>
              </a:rPr>
              <a:t>scans to discard</a:t>
            </a:r>
            <a:endParaRPr lang="en-US" sz="1300" dirty="0"/>
          </a:p>
        </p:txBody>
      </p:sp>
      <p:sp>
        <p:nvSpPr>
          <p:cNvPr id="11" name="Shape 9"/>
          <p:cNvSpPr/>
          <p:nvPr/>
        </p:nvSpPr>
        <p:spPr>
          <a:xfrm>
            <a:off x="5303520" y="3364992"/>
            <a:ext cx="3383280" cy="475488"/>
          </a:xfrm>
          <a:prstGeom prst="roundRect">
            <a:avLst>
              <a:gd name="adj" fmla="val 19231"/>
            </a:avLst>
          </a:prstGeom>
          <a:solidFill>
            <a:schemeClr val="bg2"/>
          </a:solidFill>
          <a:ln w="12700">
            <a:solidFill>
              <a:schemeClr val="bg2"/>
            </a:solidFill>
            <a:prstDash val="solid"/>
          </a:ln>
        </p:spPr>
        <p:txBody>
          <a:bodyPr/>
          <a:lstStyle/>
          <a:p>
            <a:endParaRPr lang="en-US"/>
          </a:p>
        </p:txBody>
      </p:sp>
      <p:sp>
        <p:nvSpPr>
          <p:cNvPr id="12" name="control 2"/>
          <p:cNvSpPr txBox="1"/>
          <p:nvPr/>
        </p:nvSpPr>
        <p:spPr>
          <a:xfrm>
            <a:off x="5440680" y="3364992"/>
            <a:ext cx="3108960" cy="475488"/>
          </a:xfrm>
          <a:prstGeom prst="rect">
            <a:avLst/>
          </a:prstGeom>
          <a:noFill/>
          <a:ln/>
        </p:spPr>
        <p:txBody>
          <a:bodyPr wrap="square" lIns="0" tIns="0" rIns="0" bIns="0" rtlCol="0" anchor="ctr"/>
          <a:lstStyle/>
          <a:p>
            <a:pPr marL="0" indent="0">
              <a:buNone/>
            </a:pPr>
            <a:r>
              <a:rPr lang="en-US" sz="1300" dirty="0">
                <a:solidFill>
                  <a:schemeClr val="tx1"/>
                </a:solidFill>
              </a:rPr>
              <a:t>3  Select up to 5 variables</a:t>
            </a:r>
            <a:endParaRPr lang="en-US" sz="1300" dirty="0"/>
          </a:p>
        </p:txBody>
      </p:sp>
      <p:sp>
        <p:nvSpPr>
          <p:cNvPr id="13" name="Shape 11"/>
          <p:cNvSpPr/>
          <p:nvPr/>
        </p:nvSpPr>
        <p:spPr>
          <a:xfrm>
            <a:off x="5303520" y="3950208"/>
            <a:ext cx="3383280" cy="475488"/>
          </a:xfrm>
          <a:prstGeom prst="roundRect">
            <a:avLst>
              <a:gd name="adj" fmla="val 19231"/>
            </a:avLst>
          </a:prstGeom>
          <a:solidFill>
            <a:schemeClr val="accent1"/>
          </a:solidFill>
          <a:ln w="12700">
            <a:solidFill>
              <a:schemeClr val="accent1"/>
            </a:solidFill>
            <a:prstDash val="solid"/>
          </a:ln>
        </p:spPr>
        <p:txBody>
          <a:bodyPr/>
          <a:lstStyle/>
          <a:p>
            <a:endParaRPr lang="en-US"/>
          </a:p>
        </p:txBody>
      </p:sp>
      <p:sp>
        <p:nvSpPr>
          <p:cNvPr id="14" name="control 3"/>
          <p:cNvSpPr txBox="1"/>
          <p:nvPr/>
        </p:nvSpPr>
        <p:spPr>
          <a:xfrm>
            <a:off x="5440680" y="3950208"/>
            <a:ext cx="3108960" cy="475488"/>
          </a:xfrm>
          <a:prstGeom prst="rect">
            <a:avLst/>
          </a:prstGeom>
          <a:noFill/>
          <a:ln/>
        </p:spPr>
        <p:txBody>
          <a:bodyPr wrap="square" lIns="0" tIns="0" rIns="0" bIns="0" rtlCol="0" anchor="ctr"/>
          <a:lstStyle/>
          <a:p>
            <a:pPr marL="0" indent="0">
              <a:buNone/>
            </a:pPr>
            <a:r>
              <a:rPr lang="en-US" sz="1300" b="1" dirty="0">
                <a:solidFill>
                  <a:schemeClr val="bg1"/>
                </a:solidFill>
              </a:rPr>
              <a:t>Custom X/Y axes tab for any pair</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594360"/>
          </a:xfrm>
          <a:prstGeom prst="rect">
            <a:avLst/>
          </a:prstGeom>
          <a:noFill/>
          <a:ln/>
        </p:spPr>
        <p:txBody>
          <a:bodyPr wrap="square" lIns="0" tIns="0" rIns="0" bIns="0" rtlCol="0" anchor="ctr"/>
          <a:lstStyle/>
          <a:p>
            <a:pPr marL="0" indent="0" algn="l">
              <a:buNone/>
            </a:pPr>
            <a:r>
              <a:rPr lang="en-US" sz="3200" b="1" dirty="0">
                <a:solidFill>
                  <a:schemeClr val="tx1"/>
                </a:solidFill>
              </a:rPr>
              <a:t>Other Tools</a:t>
            </a:r>
            <a:endParaRPr lang="en-US" sz="3200" dirty="0"/>
          </a:p>
        </p:txBody>
      </p:sp>
      <p:sp>
        <p:nvSpPr>
          <p:cNvPr id="3" name="tagline"/>
          <p:cNvSpPr txBox="1"/>
          <p:nvPr/>
        </p:nvSpPr>
        <p:spPr>
          <a:xfrm>
            <a:off x="457200" y="896112"/>
            <a:ext cx="8229600" cy="292608"/>
          </a:xfrm>
          <a:prstGeom prst="rect">
            <a:avLst/>
          </a:prstGeom>
          <a:noFill/>
          <a:ln/>
        </p:spPr>
        <p:txBody>
          <a:bodyPr wrap="square" lIns="0" tIns="0" rIns="0" bIns="0" rtlCol="0" anchor="ctr"/>
          <a:lstStyle/>
          <a:p>
            <a:pPr marL="0" indent="0">
              <a:buNone/>
            </a:pPr>
            <a:r>
              <a:rPr lang="en-US" sz="1500" i="1" dirty="0">
                <a:solidFill>
                  <a:schemeClr val="accent1"/>
                </a:solidFill>
              </a:rPr>
              <a:t>Optional helpers for browsing and checking results</a:t>
            </a:r>
            <a:endParaRPr lang="en-US" sz="1500" dirty="0"/>
          </a:p>
        </p:txBody>
      </p:sp>
      <p:sp>
        <p:nvSpPr>
          <p:cNvPr id="4" name="Shape 2"/>
          <p:cNvSpPr/>
          <p:nvPr/>
        </p:nvSpPr>
        <p:spPr>
          <a:xfrm>
            <a:off x="457200" y="1371600"/>
            <a:ext cx="4023360" cy="1463040"/>
          </a:xfrm>
          <a:prstGeom prst="roundRect">
            <a:avLst>
              <a:gd name="adj" fmla="val 6250"/>
            </a:avLst>
          </a:prstGeom>
          <a:solidFill>
            <a:schemeClr val="bg2"/>
          </a:solidFill>
          <a:ln w="12700">
            <a:solidFill>
              <a:schemeClr val="bg2"/>
            </a:solidFill>
            <a:prstDash val="solid"/>
          </a:ln>
        </p:spPr>
        <p:txBody>
          <a:bodyPr/>
          <a:lstStyle/>
          <a:p>
            <a:endParaRPr lang="en-US"/>
          </a:p>
        </p:txBody>
      </p:sp>
      <p:sp>
        <p:nvSpPr>
          <p:cNvPr id="5" name="plot_cnv_files.py circle"/>
          <p:cNvSpPr/>
          <p:nvPr/>
        </p:nvSpPr>
        <p:spPr>
          <a:xfrm>
            <a:off x="640080" y="1554480"/>
            <a:ext cx="548640" cy="548640"/>
          </a:xfrm>
          <a:prstGeom prst="ellipse">
            <a:avLst/>
          </a:prstGeom>
          <a:solidFill>
            <a:schemeClr val="accent1"/>
          </a:solidFill>
          <a:ln w="12700">
            <a:solidFill>
              <a:schemeClr val="accent1"/>
            </a:solidFill>
            <a:prstDash val="solid"/>
          </a:ln>
        </p:spPr>
        <p:txBody>
          <a:bodyPr/>
          <a:lstStyle/>
          <a:p>
            <a:endParaRPr lang="en-US"/>
          </a:p>
        </p:txBody>
      </p:sp>
      <p:pic>
        <p:nvPicPr>
          <p:cNvPr id="6" name="plot_cnv_files.py" descr="plot_cnv_files.py"/>
          <p:cNvPicPr>
            <a:picLocks noChangeAspect="1"/>
          </p:cNvPicPr>
          <p:nvPr/>
        </p:nvPicPr>
        <p:blipFill>
          <a:blip r:embed="rId3"/>
          <a:stretch>
            <a:fillRect/>
          </a:stretch>
        </p:blipFill>
        <p:spPr>
          <a:xfrm>
            <a:off x="771754" y="1686154"/>
            <a:ext cx="285293" cy="285293"/>
          </a:xfrm>
          <a:prstGeom prst="rect">
            <a:avLst/>
          </a:prstGeom>
        </p:spPr>
      </p:pic>
      <p:sp>
        <p:nvSpPr>
          <p:cNvPr id="7" name="tool name 0"/>
          <p:cNvSpPr txBox="1"/>
          <p:nvPr/>
        </p:nvSpPr>
        <p:spPr>
          <a:xfrm>
            <a:off x="1371600" y="1554480"/>
            <a:ext cx="3017520" cy="320040"/>
          </a:xfrm>
          <a:prstGeom prst="rect">
            <a:avLst/>
          </a:prstGeom>
          <a:noFill/>
          <a:ln/>
        </p:spPr>
        <p:txBody>
          <a:bodyPr wrap="square" lIns="0" tIns="0" rIns="0" bIns="0" rtlCol="0" anchor="ctr"/>
          <a:lstStyle/>
          <a:p>
            <a:pPr marL="0" indent="0">
              <a:buNone/>
            </a:pPr>
            <a:r>
              <a:rPr lang="en-US" sz="1300" b="1" dirty="0">
                <a:solidFill>
                  <a:schemeClr val="tx1"/>
                </a:solidFill>
                <a:latin typeface="Consolas" pitchFamily="34" charset="0"/>
                <a:ea typeface="Consolas" pitchFamily="34" charset="-122"/>
                <a:cs typeface="Consolas" pitchFamily="34" charset="-120"/>
              </a:rPr>
              <a:t>plot_cnv_files.py</a:t>
            </a:r>
            <a:endParaRPr lang="en-US" sz="1300" dirty="0"/>
          </a:p>
        </p:txBody>
      </p:sp>
      <p:sp>
        <p:nvSpPr>
          <p:cNvPr id="8" name="tool port 0"/>
          <p:cNvSpPr txBox="1"/>
          <p:nvPr/>
        </p:nvSpPr>
        <p:spPr>
          <a:xfrm>
            <a:off x="1371600" y="1892808"/>
            <a:ext cx="3017520" cy="228600"/>
          </a:xfrm>
          <a:prstGeom prst="rect">
            <a:avLst/>
          </a:prstGeom>
          <a:noFill/>
          <a:ln/>
        </p:spPr>
        <p:txBody>
          <a:bodyPr wrap="square" lIns="0" tIns="0" rIns="0" bIns="0" rtlCol="0" anchor="ctr"/>
          <a:lstStyle/>
          <a:p>
            <a:pPr marL="0" indent="0">
              <a:buNone/>
            </a:pPr>
            <a:r>
              <a:rPr lang="en-US" sz="1100" dirty="0">
                <a:solidFill>
                  <a:schemeClr val="accent1"/>
                </a:solidFill>
              </a:rPr>
              <a:t>port 8053</a:t>
            </a:r>
            <a:endParaRPr lang="en-US" sz="1100" dirty="0"/>
          </a:p>
        </p:txBody>
      </p:sp>
      <p:sp>
        <p:nvSpPr>
          <p:cNvPr id="9" name="tool desc 0"/>
          <p:cNvSpPr txBox="1"/>
          <p:nvPr/>
        </p:nvSpPr>
        <p:spPr>
          <a:xfrm>
            <a:off x="640080" y="2240280"/>
            <a:ext cx="3657600" cy="502920"/>
          </a:xfrm>
          <a:prstGeom prst="rect">
            <a:avLst/>
          </a:prstGeom>
          <a:noFill/>
          <a:ln/>
        </p:spPr>
        <p:txBody>
          <a:bodyPr wrap="square" lIns="0" tIns="0" rIns="0" bIns="0" rtlCol="0" anchor="t"/>
          <a:lstStyle/>
          <a:p>
            <a:pPr marL="0" indent="0">
              <a:buNone/>
            </a:pPr>
            <a:r>
              <a:rPr lang="en-US" sz="1200" dirty="0">
                <a:solidFill>
                  <a:schemeClr val="accent6"/>
                </a:solidFill>
              </a:rPr>
              <a:t>Browse CNV files shortest first; compare two folders side by side</a:t>
            </a:r>
            <a:endParaRPr lang="en-US" sz="1200" dirty="0"/>
          </a:p>
        </p:txBody>
      </p:sp>
      <p:sp>
        <p:nvSpPr>
          <p:cNvPr id="10" name="Shape 7"/>
          <p:cNvSpPr/>
          <p:nvPr/>
        </p:nvSpPr>
        <p:spPr>
          <a:xfrm>
            <a:off x="4663440" y="1371600"/>
            <a:ext cx="4023360" cy="1463040"/>
          </a:xfrm>
          <a:prstGeom prst="roundRect">
            <a:avLst>
              <a:gd name="adj" fmla="val 6250"/>
            </a:avLst>
          </a:prstGeom>
          <a:solidFill>
            <a:schemeClr val="bg2"/>
          </a:solidFill>
          <a:ln w="12700">
            <a:solidFill>
              <a:schemeClr val="bg2"/>
            </a:solidFill>
            <a:prstDash val="solid"/>
          </a:ln>
        </p:spPr>
        <p:txBody>
          <a:bodyPr/>
          <a:lstStyle/>
          <a:p>
            <a:endParaRPr lang="en-US"/>
          </a:p>
        </p:txBody>
      </p:sp>
      <p:sp>
        <p:nvSpPr>
          <p:cNvPr id="11" name="plot_single_folder.py circle"/>
          <p:cNvSpPr/>
          <p:nvPr/>
        </p:nvSpPr>
        <p:spPr>
          <a:xfrm>
            <a:off x="4846320" y="1554480"/>
            <a:ext cx="548640" cy="548640"/>
          </a:xfrm>
          <a:prstGeom prst="ellipse">
            <a:avLst/>
          </a:prstGeom>
          <a:solidFill>
            <a:schemeClr val="accent3"/>
          </a:solidFill>
          <a:ln w="12700">
            <a:solidFill>
              <a:schemeClr val="accent3"/>
            </a:solidFill>
            <a:prstDash val="solid"/>
          </a:ln>
        </p:spPr>
        <p:txBody>
          <a:bodyPr/>
          <a:lstStyle/>
          <a:p>
            <a:endParaRPr lang="en-US"/>
          </a:p>
        </p:txBody>
      </p:sp>
      <p:pic>
        <p:nvPicPr>
          <p:cNvPr id="12" name="plot_single_folder.py" descr="plot_single_folder.py"/>
          <p:cNvPicPr>
            <a:picLocks noChangeAspect="1"/>
          </p:cNvPicPr>
          <p:nvPr/>
        </p:nvPicPr>
        <p:blipFill>
          <a:blip r:embed="rId4"/>
          <a:stretch>
            <a:fillRect/>
          </a:stretch>
        </p:blipFill>
        <p:spPr>
          <a:xfrm>
            <a:off x="4977994" y="1686154"/>
            <a:ext cx="285293" cy="285293"/>
          </a:xfrm>
          <a:prstGeom prst="rect">
            <a:avLst/>
          </a:prstGeom>
        </p:spPr>
      </p:pic>
      <p:sp>
        <p:nvSpPr>
          <p:cNvPr id="13" name="tool name 1"/>
          <p:cNvSpPr txBox="1"/>
          <p:nvPr/>
        </p:nvSpPr>
        <p:spPr>
          <a:xfrm>
            <a:off x="5577840" y="1554480"/>
            <a:ext cx="3017520" cy="320040"/>
          </a:xfrm>
          <a:prstGeom prst="rect">
            <a:avLst/>
          </a:prstGeom>
          <a:noFill/>
          <a:ln/>
        </p:spPr>
        <p:txBody>
          <a:bodyPr wrap="square" lIns="0" tIns="0" rIns="0" bIns="0" rtlCol="0" anchor="ctr"/>
          <a:lstStyle/>
          <a:p>
            <a:pPr marL="0" indent="0">
              <a:buNone/>
            </a:pPr>
            <a:r>
              <a:rPr lang="en-US" sz="1300" b="1" dirty="0">
                <a:solidFill>
                  <a:schemeClr val="tx1"/>
                </a:solidFill>
                <a:latin typeface="Consolas" pitchFamily="34" charset="0"/>
                <a:ea typeface="Consolas" pitchFamily="34" charset="-122"/>
                <a:cs typeface="Consolas" pitchFamily="34" charset="-120"/>
              </a:rPr>
              <a:t>plot_single_folder.py</a:t>
            </a:r>
            <a:endParaRPr lang="en-US" sz="1300" dirty="0"/>
          </a:p>
        </p:txBody>
      </p:sp>
      <p:sp>
        <p:nvSpPr>
          <p:cNvPr id="14" name="tool port 1"/>
          <p:cNvSpPr txBox="1"/>
          <p:nvPr/>
        </p:nvSpPr>
        <p:spPr>
          <a:xfrm>
            <a:off x="5577840" y="1892808"/>
            <a:ext cx="3017520" cy="228600"/>
          </a:xfrm>
          <a:prstGeom prst="rect">
            <a:avLst/>
          </a:prstGeom>
          <a:noFill/>
          <a:ln/>
        </p:spPr>
        <p:txBody>
          <a:bodyPr wrap="square" lIns="0" tIns="0" rIns="0" bIns="0" rtlCol="0" anchor="ctr"/>
          <a:lstStyle/>
          <a:p>
            <a:pPr marL="0" indent="0">
              <a:buNone/>
            </a:pPr>
            <a:r>
              <a:rPr lang="en-US" sz="1100" dirty="0">
                <a:solidFill>
                  <a:schemeClr val="accent1"/>
                </a:solidFill>
              </a:rPr>
              <a:t>port 8052</a:t>
            </a:r>
            <a:endParaRPr lang="en-US" sz="1100" dirty="0"/>
          </a:p>
        </p:txBody>
      </p:sp>
      <p:sp>
        <p:nvSpPr>
          <p:cNvPr id="15" name="tool desc 1"/>
          <p:cNvSpPr txBox="1"/>
          <p:nvPr/>
        </p:nvSpPr>
        <p:spPr>
          <a:xfrm>
            <a:off x="4846320" y="2240280"/>
            <a:ext cx="3657600" cy="502920"/>
          </a:xfrm>
          <a:prstGeom prst="rect">
            <a:avLst/>
          </a:prstGeom>
          <a:noFill/>
          <a:ln/>
        </p:spPr>
        <p:txBody>
          <a:bodyPr wrap="square" lIns="0" tIns="0" rIns="0" bIns="0" rtlCol="0" anchor="t"/>
          <a:lstStyle/>
          <a:p>
            <a:pPr marL="0" indent="0">
              <a:buNone/>
            </a:pPr>
            <a:r>
              <a:rPr lang="en-US" sz="1200" dirty="0">
                <a:solidFill>
                  <a:schemeClr val="accent6"/>
                </a:solidFill>
              </a:rPr>
              <a:t>Load CNV files from any one folder, at any depth</a:t>
            </a:r>
            <a:endParaRPr lang="en-US" sz="1200" dirty="0"/>
          </a:p>
        </p:txBody>
      </p:sp>
      <p:sp>
        <p:nvSpPr>
          <p:cNvPr id="16" name="Shape 12"/>
          <p:cNvSpPr/>
          <p:nvPr/>
        </p:nvSpPr>
        <p:spPr>
          <a:xfrm>
            <a:off x="457200" y="3017520"/>
            <a:ext cx="4023360" cy="1463040"/>
          </a:xfrm>
          <a:prstGeom prst="roundRect">
            <a:avLst>
              <a:gd name="adj" fmla="val 6250"/>
            </a:avLst>
          </a:prstGeom>
          <a:solidFill>
            <a:schemeClr val="bg2"/>
          </a:solidFill>
          <a:ln w="12700">
            <a:solidFill>
              <a:schemeClr val="bg2"/>
            </a:solidFill>
            <a:prstDash val="solid"/>
          </a:ln>
        </p:spPr>
        <p:txBody>
          <a:bodyPr/>
          <a:lstStyle/>
          <a:p>
            <a:endParaRPr lang="en-US"/>
          </a:p>
        </p:txBody>
      </p:sp>
      <p:sp>
        <p:nvSpPr>
          <p:cNvPr id="17" name="cnv_file_summary.py circle"/>
          <p:cNvSpPr/>
          <p:nvPr/>
        </p:nvSpPr>
        <p:spPr>
          <a:xfrm>
            <a:off x="640080" y="3200400"/>
            <a:ext cx="548640" cy="548640"/>
          </a:xfrm>
          <a:prstGeom prst="ellipse">
            <a:avLst/>
          </a:prstGeom>
          <a:solidFill>
            <a:schemeClr val="accent1"/>
          </a:solidFill>
          <a:ln w="12700">
            <a:solidFill>
              <a:schemeClr val="accent1"/>
            </a:solidFill>
            <a:prstDash val="solid"/>
          </a:ln>
        </p:spPr>
        <p:txBody>
          <a:bodyPr/>
          <a:lstStyle/>
          <a:p>
            <a:endParaRPr lang="en-US"/>
          </a:p>
        </p:txBody>
      </p:sp>
      <p:pic>
        <p:nvPicPr>
          <p:cNvPr id="18" name="cnv_file_summary.py" descr="cnv_file_summary.py"/>
          <p:cNvPicPr>
            <a:picLocks noChangeAspect="1"/>
          </p:cNvPicPr>
          <p:nvPr/>
        </p:nvPicPr>
        <p:blipFill>
          <a:blip r:embed="rId5"/>
          <a:stretch>
            <a:fillRect/>
          </a:stretch>
        </p:blipFill>
        <p:spPr>
          <a:xfrm>
            <a:off x="771754" y="3332074"/>
            <a:ext cx="285293" cy="285293"/>
          </a:xfrm>
          <a:prstGeom prst="rect">
            <a:avLst/>
          </a:prstGeom>
        </p:spPr>
      </p:pic>
      <p:sp>
        <p:nvSpPr>
          <p:cNvPr id="19" name="tool name 2"/>
          <p:cNvSpPr txBox="1"/>
          <p:nvPr/>
        </p:nvSpPr>
        <p:spPr>
          <a:xfrm>
            <a:off x="1371600" y="3200400"/>
            <a:ext cx="3017520" cy="320040"/>
          </a:xfrm>
          <a:prstGeom prst="rect">
            <a:avLst/>
          </a:prstGeom>
          <a:noFill/>
          <a:ln/>
        </p:spPr>
        <p:txBody>
          <a:bodyPr wrap="square" lIns="0" tIns="0" rIns="0" bIns="0" rtlCol="0" anchor="ctr"/>
          <a:lstStyle/>
          <a:p>
            <a:pPr marL="0" indent="0">
              <a:buNone/>
            </a:pPr>
            <a:r>
              <a:rPr lang="en-US" sz="1300" b="1" dirty="0">
                <a:solidFill>
                  <a:schemeClr val="tx1"/>
                </a:solidFill>
                <a:latin typeface="Consolas" pitchFamily="34" charset="0"/>
                <a:ea typeface="Consolas" pitchFamily="34" charset="-122"/>
                <a:cs typeface="Consolas" pitchFamily="34" charset="-120"/>
              </a:rPr>
              <a:t>cnv_file_summary.py</a:t>
            </a:r>
            <a:endParaRPr lang="en-US" sz="1300" dirty="0"/>
          </a:p>
        </p:txBody>
      </p:sp>
      <p:sp>
        <p:nvSpPr>
          <p:cNvPr id="20" name="tool port 2"/>
          <p:cNvSpPr txBox="1"/>
          <p:nvPr/>
        </p:nvSpPr>
        <p:spPr>
          <a:xfrm>
            <a:off x="1371600" y="3538728"/>
            <a:ext cx="3017520" cy="228600"/>
          </a:xfrm>
          <a:prstGeom prst="rect">
            <a:avLst/>
          </a:prstGeom>
          <a:noFill/>
          <a:ln/>
        </p:spPr>
        <p:txBody>
          <a:bodyPr wrap="square" lIns="0" tIns="0" rIns="0" bIns="0" rtlCol="0" anchor="ctr"/>
          <a:lstStyle/>
          <a:p>
            <a:pPr marL="0" indent="0">
              <a:buNone/>
            </a:pPr>
            <a:r>
              <a:rPr lang="en-US" sz="1100" dirty="0">
                <a:solidFill>
                  <a:schemeClr val="accent1"/>
                </a:solidFill>
              </a:rPr>
              <a:t>command line</a:t>
            </a:r>
            <a:endParaRPr lang="en-US" sz="1100" dirty="0"/>
          </a:p>
        </p:txBody>
      </p:sp>
      <p:sp>
        <p:nvSpPr>
          <p:cNvPr id="21" name="tool desc 2"/>
          <p:cNvSpPr txBox="1"/>
          <p:nvPr/>
        </p:nvSpPr>
        <p:spPr>
          <a:xfrm>
            <a:off x="640080" y="3886200"/>
            <a:ext cx="3657600" cy="502920"/>
          </a:xfrm>
          <a:prstGeom prst="rect">
            <a:avLst/>
          </a:prstGeom>
          <a:noFill/>
          <a:ln/>
        </p:spPr>
        <p:txBody>
          <a:bodyPr wrap="square" lIns="0" tIns="0" rIns="0" bIns="0" rtlCol="0" anchor="t"/>
          <a:lstStyle/>
          <a:p>
            <a:pPr marL="0" indent="0">
              <a:buNone/>
            </a:pPr>
            <a:r>
              <a:rPr lang="en-US" sz="1200" dirty="0">
                <a:solidFill>
                  <a:schemeClr val="accent6"/>
                </a:solidFill>
              </a:rPr>
              <a:t>List variables, row counts, and max pressure per file</a:t>
            </a:r>
            <a:endParaRPr lang="en-US" sz="1200" dirty="0"/>
          </a:p>
        </p:txBody>
      </p:sp>
      <p:sp>
        <p:nvSpPr>
          <p:cNvPr id="22" name="Shape 17"/>
          <p:cNvSpPr/>
          <p:nvPr/>
        </p:nvSpPr>
        <p:spPr>
          <a:xfrm>
            <a:off x="4663440" y="3017520"/>
            <a:ext cx="4023360" cy="1463040"/>
          </a:xfrm>
          <a:prstGeom prst="roundRect">
            <a:avLst>
              <a:gd name="adj" fmla="val 6250"/>
            </a:avLst>
          </a:prstGeom>
          <a:solidFill>
            <a:schemeClr val="bg2"/>
          </a:solidFill>
          <a:ln w="12700">
            <a:solidFill>
              <a:schemeClr val="bg2"/>
            </a:solidFill>
            <a:prstDash val="solid"/>
          </a:ln>
        </p:spPr>
        <p:txBody>
          <a:bodyPr/>
          <a:lstStyle/>
          <a:p>
            <a:endParaRPr lang="en-US"/>
          </a:p>
        </p:txBody>
      </p:sp>
      <p:sp>
        <p:nvSpPr>
          <p:cNvPr id="23" name="app_pump_status.py circle"/>
          <p:cNvSpPr/>
          <p:nvPr/>
        </p:nvSpPr>
        <p:spPr>
          <a:xfrm>
            <a:off x="4846320" y="3200400"/>
            <a:ext cx="548640" cy="548640"/>
          </a:xfrm>
          <a:prstGeom prst="ellipse">
            <a:avLst/>
          </a:prstGeom>
          <a:solidFill>
            <a:schemeClr val="accent3"/>
          </a:solidFill>
          <a:ln w="12700">
            <a:solidFill>
              <a:schemeClr val="accent3"/>
            </a:solidFill>
            <a:prstDash val="solid"/>
          </a:ln>
        </p:spPr>
        <p:txBody>
          <a:bodyPr/>
          <a:lstStyle/>
          <a:p>
            <a:endParaRPr lang="en-US"/>
          </a:p>
        </p:txBody>
      </p:sp>
      <p:pic>
        <p:nvPicPr>
          <p:cNvPr id="24" name="app_pump_status.py" descr="app_pump_status.py"/>
          <p:cNvPicPr>
            <a:picLocks noChangeAspect="1"/>
          </p:cNvPicPr>
          <p:nvPr/>
        </p:nvPicPr>
        <p:blipFill>
          <a:blip r:embed="rId6"/>
          <a:stretch>
            <a:fillRect/>
          </a:stretch>
        </p:blipFill>
        <p:spPr>
          <a:xfrm>
            <a:off x="4977994" y="3332074"/>
            <a:ext cx="285293" cy="285293"/>
          </a:xfrm>
          <a:prstGeom prst="rect">
            <a:avLst/>
          </a:prstGeom>
        </p:spPr>
      </p:pic>
      <p:sp>
        <p:nvSpPr>
          <p:cNvPr id="25" name="tool name 3"/>
          <p:cNvSpPr txBox="1"/>
          <p:nvPr/>
        </p:nvSpPr>
        <p:spPr>
          <a:xfrm>
            <a:off x="5577840" y="3200400"/>
            <a:ext cx="3017520" cy="320040"/>
          </a:xfrm>
          <a:prstGeom prst="rect">
            <a:avLst/>
          </a:prstGeom>
          <a:noFill/>
          <a:ln/>
        </p:spPr>
        <p:txBody>
          <a:bodyPr wrap="square" lIns="0" tIns="0" rIns="0" bIns="0" rtlCol="0" anchor="ctr"/>
          <a:lstStyle/>
          <a:p>
            <a:pPr marL="0" indent="0">
              <a:buNone/>
            </a:pPr>
            <a:r>
              <a:rPr lang="en-US" sz="1300" b="1" dirty="0">
                <a:solidFill>
                  <a:schemeClr val="tx1"/>
                </a:solidFill>
                <a:latin typeface="Consolas" pitchFamily="34" charset="0"/>
                <a:ea typeface="Consolas" pitchFamily="34" charset="-122"/>
                <a:cs typeface="Consolas" pitchFamily="34" charset="-120"/>
              </a:rPr>
              <a:t>app_pump_status.py</a:t>
            </a:r>
            <a:endParaRPr lang="en-US" sz="1300" dirty="0"/>
          </a:p>
        </p:txBody>
      </p:sp>
      <p:sp>
        <p:nvSpPr>
          <p:cNvPr id="26" name="tool port 3"/>
          <p:cNvSpPr txBox="1"/>
          <p:nvPr/>
        </p:nvSpPr>
        <p:spPr>
          <a:xfrm>
            <a:off x="5577840" y="3538728"/>
            <a:ext cx="3017520" cy="228600"/>
          </a:xfrm>
          <a:prstGeom prst="rect">
            <a:avLst/>
          </a:prstGeom>
          <a:noFill/>
          <a:ln/>
        </p:spPr>
        <p:txBody>
          <a:bodyPr wrap="square" lIns="0" tIns="0" rIns="0" bIns="0" rtlCol="0" anchor="ctr"/>
          <a:lstStyle/>
          <a:p>
            <a:pPr marL="0" indent="0">
              <a:buNone/>
            </a:pPr>
            <a:r>
              <a:rPr lang="en-US" sz="1100" dirty="0">
                <a:solidFill>
                  <a:schemeClr val="accent1"/>
                </a:solidFill>
              </a:rPr>
              <a:t>port 8051</a:t>
            </a:r>
            <a:endParaRPr lang="en-US" sz="1100" dirty="0"/>
          </a:p>
        </p:txBody>
      </p:sp>
      <p:sp>
        <p:nvSpPr>
          <p:cNvPr id="27" name="tool desc 3"/>
          <p:cNvSpPr txBox="1"/>
          <p:nvPr/>
        </p:nvSpPr>
        <p:spPr>
          <a:xfrm>
            <a:off x="4846320" y="3886200"/>
            <a:ext cx="3657600" cy="502920"/>
          </a:xfrm>
          <a:prstGeom prst="rect">
            <a:avLst/>
          </a:prstGeom>
          <a:noFill/>
          <a:ln/>
        </p:spPr>
        <p:txBody>
          <a:bodyPr wrap="square" lIns="0" tIns="0" rIns="0" bIns="0" rtlCol="0" anchor="t"/>
          <a:lstStyle/>
          <a:p>
            <a:pPr marL="0" indent="0">
              <a:buNone/>
            </a:pPr>
            <a:r>
              <a:rPr lang="en-US" sz="1200" dirty="0">
                <a:solidFill>
                  <a:schemeClr val="accent6"/>
                </a:solidFill>
              </a:rPr>
              <a:t>Pump status report app with CSV export of short pump-on files</a:t>
            </a:r>
            <a:endParaRPr lang="en-US" sz="1200" dirty="0"/>
          </a:p>
        </p:txBody>
      </p:sp>
      <p:sp>
        <p:nvSpPr>
          <p:cNvPr id="28"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594360"/>
          </a:xfrm>
          <a:prstGeom prst="rect">
            <a:avLst/>
          </a:prstGeom>
          <a:noFill/>
          <a:ln/>
        </p:spPr>
        <p:txBody>
          <a:bodyPr wrap="square" lIns="0" tIns="0" rIns="0" bIns="0" rtlCol="0" anchor="ctr"/>
          <a:lstStyle/>
          <a:p>
            <a:pPr marL="0" indent="0" algn="l">
              <a:buNone/>
            </a:pPr>
            <a:r>
              <a:rPr lang="en-US" sz="3200" b="1" dirty="0">
                <a:solidFill>
                  <a:schemeClr val="tx1"/>
                </a:solidFill>
              </a:rPr>
              <a:t>Default Alignment Values by Instrument</a:t>
            </a:r>
            <a:endParaRPr lang="en-US" sz="3200" dirty="0"/>
          </a:p>
        </p:txBody>
      </p:sp>
      <p:sp>
        <p:nvSpPr>
          <p:cNvPr id="3" name="tagline"/>
          <p:cNvSpPr txBox="1"/>
          <p:nvPr/>
        </p:nvSpPr>
        <p:spPr>
          <a:xfrm>
            <a:off x="457200" y="896112"/>
            <a:ext cx="8229600" cy="292608"/>
          </a:xfrm>
          <a:prstGeom prst="rect">
            <a:avLst/>
          </a:prstGeom>
          <a:noFill/>
          <a:ln/>
        </p:spPr>
        <p:txBody>
          <a:bodyPr wrap="square" lIns="0" tIns="0" rIns="0" bIns="0" rtlCol="0" anchor="ctr"/>
          <a:lstStyle/>
          <a:p>
            <a:pPr marL="0" indent="0">
              <a:buNone/>
            </a:pPr>
            <a:r>
              <a:rPr lang="en-US" sz="1500" i="1" dirty="0">
                <a:solidFill>
                  <a:schemeClr val="accent1"/>
                </a:solidFill>
              </a:rPr>
              <a:t>Advance in seconds, relative to pressure</a:t>
            </a:r>
            <a:endParaRPr lang="en-US" sz="1500" dirty="0"/>
          </a:p>
        </p:txBody>
      </p:sp>
      <p:sp>
        <p:nvSpPr>
          <p:cNvPr id="4" name="head 0"/>
          <p:cNvSpPr txBox="1"/>
          <p:nvPr/>
        </p:nvSpPr>
        <p:spPr>
          <a:xfrm>
            <a:off x="457200" y="1325880"/>
            <a:ext cx="2651760" cy="292608"/>
          </a:xfrm>
          <a:prstGeom prst="rect">
            <a:avLst/>
          </a:prstGeom>
          <a:noFill/>
          <a:ln/>
        </p:spPr>
        <p:txBody>
          <a:bodyPr wrap="square" lIns="0" tIns="0" rIns="0" bIns="0" rtlCol="0" anchor="ctr"/>
          <a:lstStyle/>
          <a:p>
            <a:pPr marL="0" indent="0" algn="l">
              <a:buNone/>
            </a:pPr>
            <a:r>
              <a:rPr lang="en-US" sz="1200" b="1" dirty="0">
                <a:solidFill>
                  <a:schemeClr val="accent6"/>
                </a:solidFill>
              </a:rPr>
              <a:t>Instrument</a:t>
            </a:r>
            <a:endParaRPr lang="en-US" sz="1200" dirty="0"/>
          </a:p>
        </p:txBody>
      </p:sp>
      <p:sp>
        <p:nvSpPr>
          <p:cNvPr id="5" name="head 1"/>
          <p:cNvSpPr txBox="1"/>
          <p:nvPr/>
        </p:nvSpPr>
        <p:spPr>
          <a:xfrm>
            <a:off x="3200400" y="1325880"/>
            <a:ext cx="1737360" cy="292608"/>
          </a:xfrm>
          <a:prstGeom prst="rect">
            <a:avLst/>
          </a:prstGeom>
          <a:noFill/>
          <a:ln/>
        </p:spPr>
        <p:txBody>
          <a:bodyPr wrap="square" lIns="0" tIns="0" rIns="0" bIns="0" rtlCol="0" anchor="ctr"/>
          <a:lstStyle/>
          <a:p>
            <a:pPr marL="0" indent="0" algn="ctr">
              <a:buNone/>
            </a:pPr>
            <a:r>
              <a:rPr lang="en-US" sz="1200" b="1" dirty="0">
                <a:solidFill>
                  <a:schemeClr val="accent6"/>
                </a:solidFill>
              </a:rPr>
              <a:t>Temperature (s)</a:t>
            </a:r>
            <a:endParaRPr lang="en-US" sz="1200" dirty="0"/>
          </a:p>
        </p:txBody>
      </p:sp>
      <p:sp>
        <p:nvSpPr>
          <p:cNvPr id="6" name="head 2"/>
          <p:cNvSpPr txBox="1"/>
          <p:nvPr/>
        </p:nvSpPr>
        <p:spPr>
          <a:xfrm>
            <a:off x="5029200" y="1325880"/>
            <a:ext cx="1737360" cy="292608"/>
          </a:xfrm>
          <a:prstGeom prst="rect">
            <a:avLst/>
          </a:prstGeom>
          <a:noFill/>
          <a:ln/>
        </p:spPr>
        <p:txBody>
          <a:bodyPr wrap="square" lIns="0" tIns="0" rIns="0" bIns="0" rtlCol="0" anchor="ctr"/>
          <a:lstStyle/>
          <a:p>
            <a:pPr marL="0" indent="0" algn="ctr">
              <a:buNone/>
            </a:pPr>
            <a:r>
              <a:rPr lang="en-US" sz="1200" b="1" dirty="0">
                <a:solidFill>
                  <a:schemeClr val="accent6"/>
                </a:solidFill>
              </a:rPr>
              <a:t>Conductivity (s)</a:t>
            </a:r>
            <a:endParaRPr lang="en-US" sz="1200" dirty="0"/>
          </a:p>
        </p:txBody>
      </p:sp>
      <p:sp>
        <p:nvSpPr>
          <p:cNvPr id="7" name="head 3"/>
          <p:cNvSpPr txBox="1"/>
          <p:nvPr/>
        </p:nvSpPr>
        <p:spPr>
          <a:xfrm>
            <a:off x="6858000" y="1325880"/>
            <a:ext cx="1828800" cy="292608"/>
          </a:xfrm>
          <a:prstGeom prst="rect">
            <a:avLst/>
          </a:prstGeom>
          <a:noFill/>
          <a:ln/>
        </p:spPr>
        <p:txBody>
          <a:bodyPr wrap="square" lIns="0" tIns="0" rIns="0" bIns="0" rtlCol="0" anchor="ctr"/>
          <a:lstStyle/>
          <a:p>
            <a:pPr marL="0" indent="0" algn="ctr">
              <a:buNone/>
            </a:pPr>
            <a:r>
              <a:rPr lang="en-US" sz="1200" b="1" dirty="0">
                <a:solidFill>
                  <a:schemeClr val="accent6"/>
                </a:solidFill>
              </a:rPr>
              <a:t>Oxygen (s)</a:t>
            </a:r>
            <a:endParaRPr lang="en-US" sz="1200" dirty="0"/>
          </a:p>
        </p:txBody>
      </p:sp>
      <p:sp>
        <p:nvSpPr>
          <p:cNvPr id="8" name="Shape 6"/>
          <p:cNvSpPr/>
          <p:nvPr/>
        </p:nvSpPr>
        <p:spPr>
          <a:xfrm>
            <a:off x="457200" y="1691640"/>
            <a:ext cx="2651760" cy="548640"/>
          </a:xfrm>
          <a:prstGeom prst="roundRect">
            <a:avLst>
              <a:gd name="adj" fmla="val 16667"/>
            </a:avLst>
          </a:prstGeom>
          <a:solidFill>
            <a:schemeClr val="accent1"/>
          </a:solidFill>
          <a:ln w="12700">
            <a:solidFill>
              <a:schemeClr val="accent1"/>
            </a:solidFill>
            <a:prstDash val="solid"/>
          </a:ln>
        </p:spPr>
        <p:txBody>
          <a:bodyPr/>
          <a:lstStyle/>
          <a:p>
            <a:endParaRPr lang="en-US"/>
          </a:p>
        </p:txBody>
      </p:sp>
      <p:sp>
        <p:nvSpPr>
          <p:cNvPr id="9" name="inst 0"/>
          <p:cNvSpPr txBox="1"/>
          <p:nvPr/>
        </p:nvSpPr>
        <p:spPr>
          <a:xfrm>
            <a:off x="566928" y="1691640"/>
            <a:ext cx="2468880" cy="548640"/>
          </a:xfrm>
          <a:prstGeom prst="rect">
            <a:avLst/>
          </a:prstGeom>
          <a:noFill/>
          <a:ln/>
        </p:spPr>
        <p:txBody>
          <a:bodyPr wrap="square" lIns="0" tIns="0" rIns="0" bIns="0" rtlCol="0" anchor="ctr"/>
          <a:lstStyle/>
          <a:p>
            <a:pPr marL="0" indent="0">
              <a:buNone/>
            </a:pPr>
            <a:r>
              <a:rPr lang="en-US" sz="1400" b="1" dirty="0">
                <a:solidFill>
                  <a:schemeClr val="bg1"/>
                </a:solidFill>
              </a:rPr>
              <a:t>SBE 9plus</a:t>
            </a:r>
            <a:endParaRPr lang="en-US" sz="1400" dirty="0"/>
          </a:p>
        </p:txBody>
      </p:sp>
      <p:sp>
        <p:nvSpPr>
          <p:cNvPr id="10" name="Shape 8"/>
          <p:cNvSpPr/>
          <p:nvPr/>
        </p:nvSpPr>
        <p:spPr>
          <a:xfrm>
            <a:off x="3200400" y="1691640"/>
            <a:ext cx="1737360" cy="548640"/>
          </a:xfrm>
          <a:prstGeom prst="roundRect">
            <a:avLst>
              <a:gd name="adj" fmla="val 16667"/>
            </a:avLst>
          </a:prstGeom>
          <a:solidFill>
            <a:schemeClr val="bg2"/>
          </a:solidFill>
          <a:ln w="12700">
            <a:solidFill>
              <a:schemeClr val="bg2"/>
            </a:solidFill>
            <a:prstDash val="solid"/>
          </a:ln>
        </p:spPr>
        <p:txBody>
          <a:bodyPr/>
          <a:lstStyle/>
          <a:p>
            <a:endParaRPr lang="en-US"/>
          </a:p>
        </p:txBody>
      </p:sp>
      <p:sp>
        <p:nvSpPr>
          <p:cNvPr id="11" name="cell 01"/>
          <p:cNvSpPr txBox="1"/>
          <p:nvPr/>
        </p:nvSpPr>
        <p:spPr>
          <a:xfrm>
            <a:off x="3200400" y="1691640"/>
            <a:ext cx="1737360" cy="548640"/>
          </a:xfrm>
          <a:prstGeom prst="rect">
            <a:avLst/>
          </a:prstGeom>
          <a:noFill/>
          <a:ln/>
        </p:spPr>
        <p:txBody>
          <a:bodyPr wrap="square" lIns="0" tIns="0" rIns="0" bIns="0" rtlCol="0" anchor="ctr"/>
          <a:lstStyle/>
          <a:p>
            <a:pPr marL="0" indent="0" algn="ctr">
              <a:buNone/>
            </a:pPr>
            <a:r>
              <a:rPr lang="en-US" sz="1800" dirty="0">
                <a:solidFill>
                  <a:schemeClr val="accent5"/>
                </a:solidFill>
              </a:rPr>
              <a:t>-</a:t>
            </a:r>
            <a:endParaRPr lang="en-US" sz="1800" dirty="0"/>
          </a:p>
        </p:txBody>
      </p:sp>
      <p:sp>
        <p:nvSpPr>
          <p:cNvPr id="12" name="Shape 10"/>
          <p:cNvSpPr/>
          <p:nvPr/>
        </p:nvSpPr>
        <p:spPr>
          <a:xfrm>
            <a:off x="5029200" y="1691640"/>
            <a:ext cx="1737360" cy="548640"/>
          </a:xfrm>
          <a:prstGeom prst="roundRect">
            <a:avLst>
              <a:gd name="adj" fmla="val 16667"/>
            </a:avLst>
          </a:prstGeom>
          <a:solidFill>
            <a:schemeClr val="bg2"/>
          </a:solidFill>
          <a:ln w="12700">
            <a:solidFill>
              <a:schemeClr val="bg2"/>
            </a:solidFill>
            <a:prstDash val="solid"/>
          </a:ln>
        </p:spPr>
        <p:txBody>
          <a:bodyPr/>
          <a:lstStyle/>
          <a:p>
            <a:endParaRPr lang="en-US"/>
          </a:p>
        </p:txBody>
      </p:sp>
      <p:sp>
        <p:nvSpPr>
          <p:cNvPr id="13" name="cell 02"/>
          <p:cNvSpPr txBox="1"/>
          <p:nvPr/>
        </p:nvSpPr>
        <p:spPr>
          <a:xfrm>
            <a:off x="5029200" y="1691640"/>
            <a:ext cx="1737360" cy="548640"/>
          </a:xfrm>
          <a:prstGeom prst="rect">
            <a:avLst/>
          </a:prstGeom>
          <a:noFill/>
          <a:ln/>
        </p:spPr>
        <p:txBody>
          <a:bodyPr wrap="square" lIns="0" tIns="0" rIns="0" bIns="0" rtlCol="0" anchor="ctr"/>
          <a:lstStyle/>
          <a:p>
            <a:pPr marL="0" indent="0" algn="ctr">
              <a:buNone/>
            </a:pPr>
            <a:r>
              <a:rPr lang="en-US" sz="2000" b="1" dirty="0">
                <a:solidFill>
                  <a:schemeClr val="tx1"/>
                </a:solidFill>
              </a:rPr>
              <a:t>0.073</a:t>
            </a:r>
            <a:endParaRPr lang="en-US" sz="2000" dirty="0"/>
          </a:p>
        </p:txBody>
      </p:sp>
      <p:sp>
        <p:nvSpPr>
          <p:cNvPr id="14" name="Shape 12"/>
          <p:cNvSpPr/>
          <p:nvPr/>
        </p:nvSpPr>
        <p:spPr>
          <a:xfrm>
            <a:off x="6858000" y="1691640"/>
            <a:ext cx="1828800" cy="548640"/>
          </a:xfrm>
          <a:prstGeom prst="roundRect">
            <a:avLst>
              <a:gd name="adj" fmla="val 16667"/>
            </a:avLst>
          </a:prstGeom>
          <a:solidFill>
            <a:schemeClr val="bg2"/>
          </a:solidFill>
          <a:ln w="12700">
            <a:solidFill>
              <a:schemeClr val="bg2"/>
            </a:solidFill>
            <a:prstDash val="solid"/>
          </a:ln>
        </p:spPr>
        <p:txBody>
          <a:bodyPr/>
          <a:lstStyle/>
          <a:p>
            <a:endParaRPr lang="en-US"/>
          </a:p>
        </p:txBody>
      </p:sp>
      <p:sp>
        <p:nvSpPr>
          <p:cNvPr id="15" name="cell 03"/>
          <p:cNvSpPr txBox="1"/>
          <p:nvPr/>
        </p:nvSpPr>
        <p:spPr>
          <a:xfrm>
            <a:off x="6858000" y="1691640"/>
            <a:ext cx="1828800" cy="548640"/>
          </a:xfrm>
          <a:prstGeom prst="rect">
            <a:avLst/>
          </a:prstGeom>
          <a:noFill/>
          <a:ln/>
        </p:spPr>
        <p:txBody>
          <a:bodyPr wrap="square" lIns="0" tIns="0" rIns="0" bIns="0" rtlCol="0" anchor="ctr"/>
          <a:lstStyle/>
          <a:p>
            <a:pPr marL="0" indent="0" algn="ctr">
              <a:buNone/>
            </a:pPr>
            <a:r>
              <a:rPr lang="en-US" sz="2000" b="1" dirty="0">
                <a:solidFill>
                  <a:schemeClr val="tx1"/>
                </a:solidFill>
              </a:rPr>
              <a:t>3 to 5 (3.5)</a:t>
            </a:r>
            <a:endParaRPr lang="en-US" sz="2000" dirty="0"/>
          </a:p>
        </p:txBody>
      </p:sp>
      <p:sp>
        <p:nvSpPr>
          <p:cNvPr id="16" name="Shape 14"/>
          <p:cNvSpPr/>
          <p:nvPr/>
        </p:nvSpPr>
        <p:spPr>
          <a:xfrm>
            <a:off x="457200" y="2331720"/>
            <a:ext cx="2651760" cy="548640"/>
          </a:xfrm>
          <a:prstGeom prst="roundRect">
            <a:avLst>
              <a:gd name="adj" fmla="val 16667"/>
            </a:avLst>
          </a:prstGeom>
          <a:solidFill>
            <a:schemeClr val="accent3"/>
          </a:solidFill>
          <a:ln w="12700">
            <a:solidFill>
              <a:schemeClr val="accent3"/>
            </a:solidFill>
            <a:prstDash val="solid"/>
          </a:ln>
        </p:spPr>
        <p:txBody>
          <a:bodyPr/>
          <a:lstStyle/>
          <a:p>
            <a:endParaRPr lang="en-US"/>
          </a:p>
        </p:txBody>
      </p:sp>
      <p:sp>
        <p:nvSpPr>
          <p:cNvPr id="17" name="inst 1"/>
          <p:cNvSpPr txBox="1"/>
          <p:nvPr/>
        </p:nvSpPr>
        <p:spPr>
          <a:xfrm>
            <a:off x="566928" y="2331720"/>
            <a:ext cx="2468880" cy="548640"/>
          </a:xfrm>
          <a:prstGeom prst="rect">
            <a:avLst/>
          </a:prstGeom>
          <a:noFill/>
          <a:ln/>
        </p:spPr>
        <p:txBody>
          <a:bodyPr wrap="square" lIns="0" tIns="0" rIns="0" bIns="0" rtlCol="0" anchor="ctr"/>
          <a:lstStyle/>
          <a:p>
            <a:pPr marL="0" indent="0">
              <a:buNone/>
            </a:pPr>
            <a:r>
              <a:rPr lang="en-US" sz="1400" b="1" dirty="0">
                <a:solidFill>
                  <a:schemeClr val="bg1"/>
                </a:solidFill>
              </a:rPr>
              <a:t>SBE 19plus / 19plus V2</a:t>
            </a:r>
            <a:endParaRPr lang="en-US" sz="1400" dirty="0"/>
          </a:p>
        </p:txBody>
      </p:sp>
      <p:sp>
        <p:nvSpPr>
          <p:cNvPr id="18" name="Shape 16"/>
          <p:cNvSpPr/>
          <p:nvPr/>
        </p:nvSpPr>
        <p:spPr>
          <a:xfrm>
            <a:off x="3200400" y="2331720"/>
            <a:ext cx="1737360" cy="548640"/>
          </a:xfrm>
          <a:prstGeom prst="roundRect">
            <a:avLst>
              <a:gd name="adj" fmla="val 16667"/>
            </a:avLst>
          </a:prstGeom>
          <a:solidFill>
            <a:schemeClr val="bg2"/>
          </a:solidFill>
          <a:ln w="12700">
            <a:solidFill>
              <a:schemeClr val="bg2"/>
            </a:solidFill>
            <a:prstDash val="solid"/>
          </a:ln>
        </p:spPr>
        <p:txBody>
          <a:bodyPr/>
          <a:lstStyle/>
          <a:p>
            <a:endParaRPr lang="en-US"/>
          </a:p>
        </p:txBody>
      </p:sp>
      <p:sp>
        <p:nvSpPr>
          <p:cNvPr id="19" name="cell 11"/>
          <p:cNvSpPr txBox="1"/>
          <p:nvPr/>
        </p:nvSpPr>
        <p:spPr>
          <a:xfrm>
            <a:off x="3200400" y="2331720"/>
            <a:ext cx="1737360" cy="548640"/>
          </a:xfrm>
          <a:prstGeom prst="rect">
            <a:avLst/>
          </a:prstGeom>
          <a:noFill/>
          <a:ln/>
        </p:spPr>
        <p:txBody>
          <a:bodyPr wrap="square" lIns="0" tIns="0" rIns="0" bIns="0" rtlCol="0" anchor="ctr"/>
          <a:lstStyle/>
          <a:p>
            <a:pPr marL="0" indent="0" algn="ctr">
              <a:buNone/>
            </a:pPr>
            <a:r>
              <a:rPr lang="en-US" sz="2000" b="1" dirty="0">
                <a:solidFill>
                  <a:schemeClr val="tx1"/>
                </a:solidFill>
              </a:rPr>
              <a:t>0.5</a:t>
            </a:r>
            <a:endParaRPr lang="en-US" sz="2000" dirty="0"/>
          </a:p>
        </p:txBody>
      </p:sp>
      <p:sp>
        <p:nvSpPr>
          <p:cNvPr id="20" name="Shape 18"/>
          <p:cNvSpPr/>
          <p:nvPr/>
        </p:nvSpPr>
        <p:spPr>
          <a:xfrm>
            <a:off x="5029200" y="2331720"/>
            <a:ext cx="1737360" cy="548640"/>
          </a:xfrm>
          <a:prstGeom prst="roundRect">
            <a:avLst>
              <a:gd name="adj" fmla="val 16667"/>
            </a:avLst>
          </a:prstGeom>
          <a:solidFill>
            <a:schemeClr val="bg2"/>
          </a:solidFill>
          <a:ln w="12700">
            <a:solidFill>
              <a:schemeClr val="bg2"/>
            </a:solidFill>
            <a:prstDash val="solid"/>
          </a:ln>
        </p:spPr>
        <p:txBody>
          <a:bodyPr/>
          <a:lstStyle/>
          <a:p>
            <a:endParaRPr lang="en-US"/>
          </a:p>
        </p:txBody>
      </p:sp>
      <p:sp>
        <p:nvSpPr>
          <p:cNvPr id="21" name="cell 12"/>
          <p:cNvSpPr txBox="1"/>
          <p:nvPr/>
        </p:nvSpPr>
        <p:spPr>
          <a:xfrm>
            <a:off x="5029200" y="2331720"/>
            <a:ext cx="1737360" cy="548640"/>
          </a:xfrm>
          <a:prstGeom prst="rect">
            <a:avLst/>
          </a:prstGeom>
          <a:noFill/>
          <a:ln/>
        </p:spPr>
        <p:txBody>
          <a:bodyPr wrap="square" lIns="0" tIns="0" rIns="0" bIns="0" rtlCol="0" anchor="ctr"/>
          <a:lstStyle/>
          <a:p>
            <a:pPr marL="0" indent="0" algn="ctr">
              <a:buNone/>
            </a:pPr>
            <a:r>
              <a:rPr lang="en-US" sz="2000" b="1" dirty="0">
                <a:solidFill>
                  <a:schemeClr val="tx1"/>
                </a:solidFill>
              </a:rPr>
              <a:t>0.1</a:t>
            </a:r>
            <a:endParaRPr lang="en-US" sz="2000" dirty="0"/>
          </a:p>
        </p:txBody>
      </p:sp>
      <p:sp>
        <p:nvSpPr>
          <p:cNvPr id="22" name="Shape 20"/>
          <p:cNvSpPr/>
          <p:nvPr/>
        </p:nvSpPr>
        <p:spPr>
          <a:xfrm>
            <a:off x="6858000" y="2331720"/>
            <a:ext cx="1828800" cy="548640"/>
          </a:xfrm>
          <a:prstGeom prst="roundRect">
            <a:avLst>
              <a:gd name="adj" fmla="val 16667"/>
            </a:avLst>
          </a:prstGeom>
          <a:solidFill>
            <a:schemeClr val="bg2"/>
          </a:solidFill>
          <a:ln w="12700">
            <a:solidFill>
              <a:schemeClr val="bg2"/>
            </a:solidFill>
            <a:prstDash val="solid"/>
          </a:ln>
        </p:spPr>
        <p:txBody>
          <a:bodyPr/>
          <a:lstStyle/>
          <a:p>
            <a:endParaRPr lang="en-US"/>
          </a:p>
        </p:txBody>
      </p:sp>
      <p:sp>
        <p:nvSpPr>
          <p:cNvPr id="23" name="cell 13"/>
          <p:cNvSpPr txBox="1"/>
          <p:nvPr/>
        </p:nvSpPr>
        <p:spPr>
          <a:xfrm>
            <a:off x="6858000" y="2331720"/>
            <a:ext cx="1828800" cy="548640"/>
          </a:xfrm>
          <a:prstGeom prst="rect">
            <a:avLst/>
          </a:prstGeom>
          <a:noFill/>
          <a:ln/>
        </p:spPr>
        <p:txBody>
          <a:bodyPr wrap="square" lIns="0" tIns="0" rIns="0" bIns="0" rtlCol="0" anchor="ctr"/>
          <a:lstStyle/>
          <a:p>
            <a:pPr marL="0" indent="0" algn="ctr">
              <a:buNone/>
            </a:pPr>
            <a:r>
              <a:rPr lang="en-US" sz="1800" dirty="0">
                <a:solidFill>
                  <a:schemeClr val="accent5"/>
                </a:solidFill>
              </a:rPr>
              <a:t>-</a:t>
            </a:r>
            <a:endParaRPr lang="en-US" sz="1800" dirty="0"/>
          </a:p>
        </p:txBody>
      </p:sp>
      <p:sp>
        <p:nvSpPr>
          <p:cNvPr id="24" name="Shape 22"/>
          <p:cNvSpPr/>
          <p:nvPr/>
        </p:nvSpPr>
        <p:spPr>
          <a:xfrm>
            <a:off x="457200" y="2971800"/>
            <a:ext cx="2651760" cy="548640"/>
          </a:xfrm>
          <a:prstGeom prst="roundRect">
            <a:avLst>
              <a:gd name="adj" fmla="val 16667"/>
            </a:avLst>
          </a:prstGeom>
          <a:solidFill>
            <a:schemeClr val="accent1"/>
          </a:solidFill>
          <a:ln w="12700">
            <a:solidFill>
              <a:schemeClr val="accent1"/>
            </a:solidFill>
            <a:prstDash val="solid"/>
          </a:ln>
        </p:spPr>
        <p:txBody>
          <a:bodyPr/>
          <a:lstStyle/>
          <a:p>
            <a:endParaRPr lang="en-US"/>
          </a:p>
        </p:txBody>
      </p:sp>
      <p:sp>
        <p:nvSpPr>
          <p:cNvPr id="25" name="inst 2"/>
          <p:cNvSpPr txBox="1"/>
          <p:nvPr/>
        </p:nvSpPr>
        <p:spPr>
          <a:xfrm>
            <a:off x="566928" y="2971800"/>
            <a:ext cx="2468880" cy="548640"/>
          </a:xfrm>
          <a:prstGeom prst="rect">
            <a:avLst/>
          </a:prstGeom>
          <a:noFill/>
          <a:ln/>
        </p:spPr>
        <p:txBody>
          <a:bodyPr wrap="square" lIns="0" tIns="0" rIns="0" bIns="0" rtlCol="0" anchor="ctr"/>
          <a:lstStyle/>
          <a:p>
            <a:pPr marL="0" indent="0">
              <a:buNone/>
            </a:pPr>
            <a:r>
              <a:rPr lang="en-US" sz="1400" b="1" dirty="0">
                <a:solidFill>
                  <a:schemeClr val="bg1"/>
                </a:solidFill>
              </a:rPr>
              <a:t>SBE 25 / 25plus</a:t>
            </a:r>
            <a:endParaRPr lang="en-US" sz="1400" dirty="0"/>
          </a:p>
        </p:txBody>
      </p:sp>
      <p:sp>
        <p:nvSpPr>
          <p:cNvPr id="26" name="Shape 24"/>
          <p:cNvSpPr/>
          <p:nvPr/>
        </p:nvSpPr>
        <p:spPr>
          <a:xfrm>
            <a:off x="3200400" y="2971800"/>
            <a:ext cx="1737360" cy="548640"/>
          </a:xfrm>
          <a:prstGeom prst="roundRect">
            <a:avLst>
              <a:gd name="adj" fmla="val 16667"/>
            </a:avLst>
          </a:prstGeom>
          <a:solidFill>
            <a:schemeClr val="bg2"/>
          </a:solidFill>
          <a:ln w="12700">
            <a:solidFill>
              <a:schemeClr val="bg2"/>
            </a:solidFill>
            <a:prstDash val="solid"/>
          </a:ln>
        </p:spPr>
        <p:txBody>
          <a:bodyPr/>
          <a:lstStyle/>
          <a:p>
            <a:endParaRPr lang="en-US"/>
          </a:p>
        </p:txBody>
      </p:sp>
      <p:sp>
        <p:nvSpPr>
          <p:cNvPr id="27" name="cell 21"/>
          <p:cNvSpPr txBox="1"/>
          <p:nvPr/>
        </p:nvSpPr>
        <p:spPr>
          <a:xfrm>
            <a:off x="3200400" y="2971800"/>
            <a:ext cx="1737360" cy="548640"/>
          </a:xfrm>
          <a:prstGeom prst="rect">
            <a:avLst/>
          </a:prstGeom>
          <a:noFill/>
          <a:ln/>
        </p:spPr>
        <p:txBody>
          <a:bodyPr wrap="square" lIns="0" tIns="0" rIns="0" bIns="0" rtlCol="0" anchor="ctr"/>
          <a:lstStyle/>
          <a:p>
            <a:pPr marL="0" indent="0" algn="ctr">
              <a:buNone/>
            </a:pPr>
            <a:r>
              <a:rPr lang="en-US" sz="1800" dirty="0">
                <a:solidFill>
                  <a:schemeClr val="accent5"/>
                </a:solidFill>
              </a:rPr>
              <a:t>-</a:t>
            </a:r>
            <a:endParaRPr lang="en-US" sz="1800" dirty="0"/>
          </a:p>
        </p:txBody>
      </p:sp>
      <p:sp>
        <p:nvSpPr>
          <p:cNvPr id="28" name="Shape 26"/>
          <p:cNvSpPr/>
          <p:nvPr/>
        </p:nvSpPr>
        <p:spPr>
          <a:xfrm>
            <a:off x="5029200" y="2971800"/>
            <a:ext cx="1737360" cy="548640"/>
          </a:xfrm>
          <a:prstGeom prst="roundRect">
            <a:avLst>
              <a:gd name="adj" fmla="val 16667"/>
            </a:avLst>
          </a:prstGeom>
          <a:solidFill>
            <a:schemeClr val="bg2"/>
          </a:solidFill>
          <a:ln w="12700">
            <a:solidFill>
              <a:schemeClr val="bg2"/>
            </a:solidFill>
            <a:prstDash val="solid"/>
          </a:ln>
        </p:spPr>
        <p:txBody>
          <a:bodyPr/>
          <a:lstStyle/>
          <a:p>
            <a:endParaRPr lang="en-US"/>
          </a:p>
        </p:txBody>
      </p:sp>
      <p:sp>
        <p:nvSpPr>
          <p:cNvPr id="29" name="cell 22"/>
          <p:cNvSpPr txBox="1"/>
          <p:nvPr/>
        </p:nvSpPr>
        <p:spPr>
          <a:xfrm>
            <a:off x="5029200" y="2971800"/>
            <a:ext cx="1737360" cy="548640"/>
          </a:xfrm>
          <a:prstGeom prst="rect">
            <a:avLst/>
          </a:prstGeom>
          <a:noFill/>
          <a:ln/>
        </p:spPr>
        <p:txBody>
          <a:bodyPr wrap="square" lIns="0" tIns="0" rIns="0" bIns="0" rtlCol="0" anchor="ctr"/>
          <a:lstStyle/>
          <a:p>
            <a:pPr marL="0" indent="0" algn="ctr">
              <a:buNone/>
            </a:pPr>
            <a:r>
              <a:rPr lang="en-US" sz="2000" b="1" dirty="0">
                <a:solidFill>
                  <a:schemeClr val="tx1"/>
                </a:solidFill>
              </a:rPr>
              <a:t>0.1</a:t>
            </a:r>
            <a:endParaRPr lang="en-US" sz="2000" dirty="0"/>
          </a:p>
        </p:txBody>
      </p:sp>
      <p:sp>
        <p:nvSpPr>
          <p:cNvPr id="30" name="checked 22"/>
          <p:cNvSpPr txBox="1"/>
          <p:nvPr/>
        </p:nvSpPr>
        <p:spPr>
          <a:xfrm>
            <a:off x="6473952" y="2999232"/>
            <a:ext cx="256032" cy="237744"/>
          </a:xfrm>
          <a:prstGeom prst="rect">
            <a:avLst/>
          </a:prstGeom>
          <a:noFill/>
          <a:ln/>
        </p:spPr>
        <p:txBody>
          <a:bodyPr wrap="square" lIns="0" tIns="0" rIns="0" bIns="0" rtlCol="0" anchor="ctr"/>
          <a:lstStyle/>
          <a:p>
            <a:pPr marL="0" indent="0" algn="r">
              <a:buNone/>
            </a:pPr>
            <a:r>
              <a:rPr lang="en-US" sz="1200" b="1" dirty="0">
                <a:solidFill>
                  <a:schemeClr val="accent1"/>
                </a:solidFill>
              </a:rPr>
              <a:t>✓</a:t>
            </a:r>
            <a:endParaRPr lang="en-US" sz="1200" dirty="0"/>
          </a:p>
        </p:txBody>
      </p:sp>
      <p:sp>
        <p:nvSpPr>
          <p:cNvPr id="31" name="Shape 29"/>
          <p:cNvSpPr/>
          <p:nvPr/>
        </p:nvSpPr>
        <p:spPr>
          <a:xfrm>
            <a:off x="6858000" y="2971800"/>
            <a:ext cx="1828800" cy="548640"/>
          </a:xfrm>
          <a:prstGeom prst="roundRect">
            <a:avLst>
              <a:gd name="adj" fmla="val 16667"/>
            </a:avLst>
          </a:prstGeom>
          <a:solidFill>
            <a:schemeClr val="bg2"/>
          </a:solidFill>
          <a:ln w="12700">
            <a:solidFill>
              <a:schemeClr val="bg2"/>
            </a:solidFill>
            <a:prstDash val="solid"/>
          </a:ln>
        </p:spPr>
        <p:txBody>
          <a:bodyPr/>
          <a:lstStyle/>
          <a:p>
            <a:endParaRPr lang="en-US"/>
          </a:p>
        </p:txBody>
      </p:sp>
      <p:sp>
        <p:nvSpPr>
          <p:cNvPr id="32" name="cell 23"/>
          <p:cNvSpPr txBox="1"/>
          <p:nvPr/>
        </p:nvSpPr>
        <p:spPr>
          <a:xfrm>
            <a:off x="6858000" y="2971800"/>
            <a:ext cx="1828800" cy="548640"/>
          </a:xfrm>
          <a:prstGeom prst="rect">
            <a:avLst/>
          </a:prstGeom>
          <a:noFill/>
          <a:ln/>
        </p:spPr>
        <p:txBody>
          <a:bodyPr wrap="square" lIns="0" tIns="0" rIns="0" bIns="0" rtlCol="0" anchor="ctr"/>
          <a:lstStyle/>
          <a:p>
            <a:pPr marL="0" indent="0" algn="ctr">
              <a:buNone/>
            </a:pPr>
            <a:r>
              <a:rPr lang="en-US" sz="2000" b="1" dirty="0">
                <a:solidFill>
                  <a:schemeClr val="tx1"/>
                </a:solidFill>
              </a:rPr>
              <a:t>3 to 7</a:t>
            </a:r>
            <a:endParaRPr lang="en-US" sz="2000" dirty="0"/>
          </a:p>
        </p:txBody>
      </p:sp>
      <p:sp>
        <p:nvSpPr>
          <p:cNvPr id="33" name="checked 23"/>
          <p:cNvSpPr txBox="1"/>
          <p:nvPr/>
        </p:nvSpPr>
        <p:spPr>
          <a:xfrm>
            <a:off x="8394192" y="2999232"/>
            <a:ext cx="256032" cy="237744"/>
          </a:xfrm>
          <a:prstGeom prst="rect">
            <a:avLst/>
          </a:prstGeom>
          <a:noFill/>
          <a:ln/>
        </p:spPr>
        <p:txBody>
          <a:bodyPr wrap="square" lIns="0" tIns="0" rIns="0" bIns="0" rtlCol="0" anchor="ctr"/>
          <a:lstStyle/>
          <a:p>
            <a:pPr marL="0" indent="0" algn="r">
              <a:buNone/>
            </a:pPr>
            <a:r>
              <a:rPr lang="en-US" sz="1200" b="1" dirty="0">
                <a:solidFill>
                  <a:schemeClr val="accent1"/>
                </a:solidFill>
              </a:rPr>
              <a:t>✓</a:t>
            </a:r>
            <a:endParaRPr lang="en-US" sz="1200" dirty="0"/>
          </a:p>
        </p:txBody>
      </p:sp>
      <p:sp>
        <p:nvSpPr>
          <p:cNvPr id="34" name="Shape 32"/>
          <p:cNvSpPr/>
          <p:nvPr/>
        </p:nvSpPr>
        <p:spPr>
          <a:xfrm>
            <a:off x="457200" y="3611880"/>
            <a:ext cx="2651760" cy="548640"/>
          </a:xfrm>
          <a:prstGeom prst="roundRect">
            <a:avLst>
              <a:gd name="adj" fmla="val 16667"/>
            </a:avLst>
          </a:prstGeom>
          <a:solidFill>
            <a:schemeClr val="accent3"/>
          </a:solidFill>
          <a:ln w="12700">
            <a:solidFill>
              <a:schemeClr val="accent3"/>
            </a:solidFill>
            <a:prstDash val="solid"/>
          </a:ln>
        </p:spPr>
        <p:txBody>
          <a:bodyPr/>
          <a:lstStyle/>
          <a:p>
            <a:endParaRPr lang="en-US"/>
          </a:p>
        </p:txBody>
      </p:sp>
      <p:sp>
        <p:nvSpPr>
          <p:cNvPr id="35" name="inst 3"/>
          <p:cNvSpPr txBox="1"/>
          <p:nvPr/>
        </p:nvSpPr>
        <p:spPr>
          <a:xfrm>
            <a:off x="566928" y="3611880"/>
            <a:ext cx="2468880" cy="548640"/>
          </a:xfrm>
          <a:prstGeom prst="rect">
            <a:avLst/>
          </a:prstGeom>
          <a:noFill/>
          <a:ln/>
        </p:spPr>
        <p:txBody>
          <a:bodyPr wrap="square" lIns="0" tIns="0" rIns="0" bIns="0" rtlCol="0" anchor="ctr"/>
          <a:lstStyle/>
          <a:p>
            <a:pPr marL="0" indent="0">
              <a:buNone/>
            </a:pPr>
            <a:r>
              <a:rPr lang="en-US" sz="1400" b="1" dirty="0">
                <a:solidFill>
                  <a:schemeClr val="bg1"/>
                </a:solidFill>
              </a:rPr>
              <a:t>SBE 49 (TC, 3000 rpm pump)</a:t>
            </a:r>
            <a:endParaRPr lang="en-US" sz="1400" dirty="0"/>
          </a:p>
        </p:txBody>
      </p:sp>
      <p:sp>
        <p:nvSpPr>
          <p:cNvPr id="36" name="Shape 34"/>
          <p:cNvSpPr/>
          <p:nvPr/>
        </p:nvSpPr>
        <p:spPr>
          <a:xfrm>
            <a:off x="3200400" y="3611880"/>
            <a:ext cx="1737360" cy="548640"/>
          </a:xfrm>
          <a:prstGeom prst="roundRect">
            <a:avLst>
              <a:gd name="adj" fmla="val 16667"/>
            </a:avLst>
          </a:prstGeom>
          <a:solidFill>
            <a:schemeClr val="bg2"/>
          </a:solidFill>
          <a:ln w="12700">
            <a:solidFill>
              <a:schemeClr val="bg2"/>
            </a:solidFill>
            <a:prstDash val="solid"/>
          </a:ln>
        </p:spPr>
        <p:txBody>
          <a:bodyPr/>
          <a:lstStyle/>
          <a:p>
            <a:endParaRPr lang="en-US"/>
          </a:p>
        </p:txBody>
      </p:sp>
      <p:sp>
        <p:nvSpPr>
          <p:cNvPr id="37" name="cell 31"/>
          <p:cNvSpPr txBox="1"/>
          <p:nvPr/>
        </p:nvSpPr>
        <p:spPr>
          <a:xfrm>
            <a:off x="3200400" y="3611880"/>
            <a:ext cx="1737360" cy="548640"/>
          </a:xfrm>
          <a:prstGeom prst="rect">
            <a:avLst/>
          </a:prstGeom>
          <a:noFill/>
          <a:ln/>
        </p:spPr>
        <p:txBody>
          <a:bodyPr wrap="square" lIns="0" tIns="0" rIns="0" bIns="0" rtlCol="0" anchor="ctr"/>
          <a:lstStyle/>
          <a:p>
            <a:pPr marL="0" indent="0" algn="ctr">
              <a:buNone/>
            </a:pPr>
            <a:r>
              <a:rPr lang="en-US" sz="2000" b="1" dirty="0">
                <a:solidFill>
                  <a:schemeClr val="tx1"/>
                </a:solidFill>
              </a:rPr>
              <a:t>0.0625</a:t>
            </a:r>
            <a:endParaRPr lang="en-US" sz="2000" dirty="0"/>
          </a:p>
        </p:txBody>
      </p:sp>
      <p:sp>
        <p:nvSpPr>
          <p:cNvPr id="38" name="Shape 36"/>
          <p:cNvSpPr/>
          <p:nvPr/>
        </p:nvSpPr>
        <p:spPr>
          <a:xfrm>
            <a:off x="5029200" y="3611880"/>
            <a:ext cx="1737360" cy="548640"/>
          </a:xfrm>
          <a:prstGeom prst="roundRect">
            <a:avLst>
              <a:gd name="adj" fmla="val 16667"/>
            </a:avLst>
          </a:prstGeom>
          <a:solidFill>
            <a:schemeClr val="bg2"/>
          </a:solidFill>
          <a:ln w="12700">
            <a:solidFill>
              <a:schemeClr val="bg2"/>
            </a:solidFill>
            <a:prstDash val="solid"/>
          </a:ln>
        </p:spPr>
        <p:txBody>
          <a:bodyPr/>
          <a:lstStyle/>
          <a:p>
            <a:endParaRPr lang="en-US"/>
          </a:p>
        </p:txBody>
      </p:sp>
      <p:sp>
        <p:nvSpPr>
          <p:cNvPr id="39" name="cell 32"/>
          <p:cNvSpPr txBox="1"/>
          <p:nvPr/>
        </p:nvSpPr>
        <p:spPr>
          <a:xfrm>
            <a:off x="5029200" y="3611880"/>
            <a:ext cx="1737360" cy="548640"/>
          </a:xfrm>
          <a:prstGeom prst="rect">
            <a:avLst/>
          </a:prstGeom>
          <a:noFill/>
          <a:ln/>
        </p:spPr>
        <p:txBody>
          <a:bodyPr wrap="square" lIns="0" tIns="0" rIns="0" bIns="0" rtlCol="0" anchor="ctr"/>
          <a:lstStyle/>
          <a:p>
            <a:pPr marL="0" indent="0" algn="ctr">
              <a:buNone/>
            </a:pPr>
            <a:r>
              <a:rPr lang="en-US" sz="1800" dirty="0">
                <a:solidFill>
                  <a:schemeClr val="accent5"/>
                </a:solidFill>
              </a:rPr>
              <a:t>-</a:t>
            </a:r>
            <a:endParaRPr lang="en-US" sz="1800" dirty="0"/>
          </a:p>
        </p:txBody>
      </p:sp>
      <p:sp>
        <p:nvSpPr>
          <p:cNvPr id="40" name="Shape 38"/>
          <p:cNvSpPr/>
          <p:nvPr/>
        </p:nvSpPr>
        <p:spPr>
          <a:xfrm>
            <a:off x="6858000" y="3611880"/>
            <a:ext cx="1828800" cy="548640"/>
          </a:xfrm>
          <a:prstGeom prst="roundRect">
            <a:avLst>
              <a:gd name="adj" fmla="val 16667"/>
            </a:avLst>
          </a:prstGeom>
          <a:solidFill>
            <a:schemeClr val="bg2"/>
          </a:solidFill>
          <a:ln w="12700">
            <a:solidFill>
              <a:schemeClr val="bg2"/>
            </a:solidFill>
            <a:prstDash val="solid"/>
          </a:ln>
        </p:spPr>
        <p:txBody>
          <a:bodyPr/>
          <a:lstStyle/>
          <a:p>
            <a:endParaRPr lang="en-US"/>
          </a:p>
        </p:txBody>
      </p:sp>
      <p:sp>
        <p:nvSpPr>
          <p:cNvPr id="41" name="cell 33"/>
          <p:cNvSpPr txBox="1"/>
          <p:nvPr/>
        </p:nvSpPr>
        <p:spPr>
          <a:xfrm>
            <a:off x="6858000" y="3611880"/>
            <a:ext cx="1828800" cy="548640"/>
          </a:xfrm>
          <a:prstGeom prst="rect">
            <a:avLst/>
          </a:prstGeom>
          <a:noFill/>
          <a:ln/>
        </p:spPr>
        <p:txBody>
          <a:bodyPr wrap="square" lIns="0" tIns="0" rIns="0" bIns="0" rtlCol="0" anchor="ctr"/>
          <a:lstStyle/>
          <a:p>
            <a:pPr marL="0" indent="0" algn="ctr">
              <a:buNone/>
            </a:pPr>
            <a:r>
              <a:rPr lang="en-US" sz="1800" dirty="0">
                <a:solidFill>
                  <a:schemeClr val="accent5"/>
                </a:solidFill>
              </a:rPr>
              <a:t>-</a:t>
            </a:r>
            <a:endParaRPr lang="en-US" sz="1800" dirty="0"/>
          </a:p>
        </p:txBody>
      </p:sp>
      <p:sp>
        <p:nvSpPr>
          <p:cNvPr id="42" name="legend"/>
          <p:cNvSpPr txBox="1"/>
          <p:nvPr/>
        </p:nvSpPr>
        <p:spPr>
          <a:xfrm>
            <a:off x="457200" y="4279392"/>
            <a:ext cx="8229600" cy="228600"/>
          </a:xfrm>
          <a:prstGeom prst="rect">
            <a:avLst/>
          </a:prstGeom>
          <a:noFill/>
          <a:ln/>
        </p:spPr>
        <p:txBody>
          <a:bodyPr wrap="square" lIns="0" tIns="0" rIns="0" bIns="0" rtlCol="0" anchor="ctr"/>
          <a:lstStyle/>
          <a:p>
            <a:pPr marL="0" indent="0">
              <a:buNone/>
            </a:pPr>
            <a:r>
              <a:rPr lang="en-US" sz="1100" dirty="0">
                <a:solidFill>
                  <a:schemeClr val="accent6"/>
                </a:solidFill>
              </a:rPr>
              <a:t>✓ checked against the Seasoft manual in the source spreadsheet.  “-” = no value listed.</a:t>
            </a:r>
            <a:endParaRPr lang="en-US" sz="1100" dirty="0"/>
          </a:p>
        </p:txBody>
      </p:sp>
      <p:sp>
        <p:nvSpPr>
          <p:cNvPr id="43" name="wrap up"/>
          <p:cNvSpPr txBox="1"/>
          <p:nvPr/>
        </p:nvSpPr>
        <p:spPr>
          <a:xfrm>
            <a:off x="457200" y="4498848"/>
            <a:ext cx="8229600" cy="256032"/>
          </a:xfrm>
          <a:prstGeom prst="rect">
            <a:avLst/>
          </a:prstGeom>
          <a:noFill/>
          <a:ln/>
        </p:spPr>
        <p:txBody>
          <a:bodyPr wrap="square" lIns="0" tIns="0" rIns="0" bIns="0" rtlCol="0" anchor="ctr"/>
          <a:lstStyle/>
          <a:p>
            <a:pPr marL="0" indent="0">
              <a:buNone/>
            </a:pPr>
            <a:r>
              <a:rPr lang="en-US" sz="1200" i="1" dirty="0">
                <a:solidFill>
                  <a:schemeClr val="accent1"/>
                </a:solidFill>
              </a:rPr>
              <a:t>Toolkit script defaults suit the SBE 9plus; pass start, end, and count to test other instruments</a:t>
            </a:r>
            <a:endParaRPr lang="en-US" sz="1200" dirty="0"/>
          </a:p>
        </p:txBody>
      </p:sp>
      <p:sp>
        <p:nvSpPr>
          <p:cNvPr id="44"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14</a:t>
            </a:fld>
            <a:endParaRPr lang="en-US"/>
          </a:p>
        </p:txBody>
      </p:sp>
    </p:spTree>
  </p:cSld>
  <p:clrMapOvr>
    <a:masterClrMapping/>
  </p:clrMapOvr>
</p:sld>
</file>

<file path=ppt/theme/theme1.xml><?xml version="1.0" encoding="utf-8"?>
<a:theme xmlns:a="http://schemas.openxmlformats.org/drawingml/2006/main" name="GCOOS Gulf">
  <a:themeElements>
    <a:clrScheme name="GCOOS Gulf">
      <a:dk1>
        <a:srgbClr val="0B2545"/>
      </a:dk1>
      <a:lt1>
        <a:srgbClr val="FFFFFF"/>
      </a:lt1>
      <a:dk2>
        <a:srgbClr val="13315C"/>
      </a:dk2>
      <a:lt2>
        <a:srgbClr val="EAF2F7"/>
      </a:lt2>
      <a:accent1>
        <a:srgbClr val="0E9AA7"/>
      </a:accent1>
      <a:accent2>
        <a:srgbClr val="F26B38"/>
      </a:accent2>
      <a:accent3>
        <a:srgbClr val="2E6F95"/>
      </a:accent3>
      <a:accent4>
        <a:srgbClr val="F2B134"/>
      </a:accent4>
      <a:accent5>
        <a:srgbClr val="8DA9C4"/>
      </a:accent5>
      <a:accent6>
        <a:srgbClr val="3D5A80"/>
      </a:accent6>
      <a:hlink>
        <a:srgbClr val="0E9AA7"/>
      </a:hlink>
      <a:folHlink>
        <a:srgbClr val="3D5A80"/>
      </a:folHlink>
    </a:clrScheme>
    <a:fontScheme name="GCOOS Gulf">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38</TotalTime>
  <Words>1688</Words>
  <Application>Microsoft Office PowerPoint</Application>
  <PresentationFormat>On-screen Show (16:9)</PresentationFormat>
  <Paragraphs>204</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Consolas</vt:lpstr>
      <vt:lpstr>GCOOS Gulf</vt:lpstr>
      <vt:lpstr>Sea-Bird CTD Data Processing Toolkit</vt:lpstr>
      <vt:lpstr>What the Toolkit Does</vt:lpstr>
      <vt:lpstr>Recommended Conversion Workflow</vt:lpstr>
      <vt:lpstr>Prepare the Cruise Folder</vt:lpstr>
      <vt:lpstr>Check the Downcast Detection</vt:lpstr>
      <vt:lpstr>Why Align Conductivity</vt:lpstr>
      <vt:lpstr>Choosing the Conductivity Shift</vt:lpstr>
      <vt:lpstr>Conductivity Alignment Experiment</vt:lpstr>
      <vt:lpstr>Why Align Oxygen</vt:lpstr>
      <vt:lpstr>Hysteresis or a Real Feature?</vt:lpstr>
      <vt:lpstr>Oxygen Alignment Experiment</vt:lpstr>
      <vt:lpstr>Review Results: plot_alignment.py</vt:lpstr>
      <vt:lpstr>Other Tools</vt:lpstr>
      <vt:lpstr>Default Alignment Values by Instrument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Sea-Bird CTD Data Processing Toolkit</dc:title>
  <dc:subject>PptxGenJS Presentation</dc:subject>
  <dc:creator>PptxGenJS</dc:creator>
  <cp:lastModifiedBy>Tuomo Saari</cp:lastModifiedBy>
  <cp:revision>7</cp:revision>
  <dcterms:created xsi:type="dcterms:W3CDTF">2026-10-09T22:00:27Z</dcterms:created>
  <dcterms:modified xsi:type="dcterms:W3CDTF">2026-10-12T16:54:32Z</dcterms:modified>
</cp:coreProperties>
</file>